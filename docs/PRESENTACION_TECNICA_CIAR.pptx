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/>
    <a:lvl1pPr marL="0" algn="l"/>
    <a:lvl2pPr marL="0" algn="l"/>
    <a:lvl3pPr marL="0" algn="l"/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12192000" cy="6858000"/>
        </a:xfrm>
        <a:prstGeom prst="rect">
          <a:avLst/>
        </a:prstGeo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CIAR">
    <p:spTree>
      <p:nvGrpSpPr>
        <p:cNvPr id="1" name=""/>
        <p:cNvGrpSpPr/>
        <p:nvPr/>
      </p:nvGrpSpPr>
      <p:grpSpPr>
        <a:xfrm>
          <a:off x="0" y="0"/>
          <a:ext cx="12192000" cy="6858000"/>
        </a:xfrm>
        <a:prstGeom prst="rect">
          <a:avLst/>
        </a:prstGeo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</a:xfrm>
        <a:prstGeom prst="rect">
          <a:avLst/>
        </a:prstGeo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</p:sp>
      <p:sp>
        <p:nvSpPr>
          <p:cNvPr id="3" name="Shape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F5117"/>
          </a:solidFill>
          <a:ln>
            <a:noFill/>
          </a:ln>
        </p:spPr>
      </p:sp>
      <p:sp>
        <p:nvSpPr>
          <p:cNvPr id="4" name="Text"/>
          <p:cNvSpPr/>
          <p:nvPr/>
        </p:nvSpPr>
        <p:spPr>
          <a:xfrm>
            <a:off x="685800" y="781050"/>
            <a:ext cx="2857500" cy="266700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1500" b="1" i="0">
                <a:solidFill>
                  <a:srgbClr val="FF5117"/>
                </a:solidFill>
                <a:latin typeface="IBM Plex Mono"/>
              </a:rPr>
              <a:t>CIAR / ULIMA</a:t>
            </a:r>
            <a:endParaRPr lang="es-PE" sz="1500"/>
          </a:p>
        </p:txBody>
      </p:sp>
      <p:sp>
        <p:nvSpPr>
          <p:cNvPr id="5" name="Text"/>
          <p:cNvSpPr/>
          <p:nvPr/>
        </p:nvSpPr>
        <p:spPr>
          <a:xfrm>
            <a:off x="685800" y="1695450"/>
            <a:ext cx="9048750" cy="876300"/>
          </a:xfrm>
          <a:noFill/>
          <a:ln>
            <a:noFill/>
          </a:ln>
        </p:spPr>
        <p:txBody>
          <a:bodyPr lIns="0" tIns="0" rIns="0" bIns="0" anchor="top"/>
          <a:lstStyle/>
          <a:p>
            <a:pPr algn="l" lvl="0">
              <a:buNone/>
            </a:pPr>
            <a:r>
              <a:rPr lang="es-PE" sz="4800" b="1" i="0">
                <a:solidFill>
                  <a:srgbClr val="111111"/>
                </a:solidFill>
                <a:latin typeface="Roboto"/>
              </a:rPr>
              <a:t>Estado técnico</a:t>
            </a:r>
            <a:endParaRPr lang="es-PE" sz="4800"/>
          </a:p>
          <a:p>
            <a:pPr algn="l" lvl="0">
              <a:buNone/>
            </a:pPr>
            <a:r>
              <a:rPr lang="es-PE" sz="4800" b="1" i="0">
                <a:solidFill>
                  <a:srgbClr val="111111"/>
                </a:solidFill>
                <a:latin typeface="Roboto"/>
              </a:rPr>
              <a:t>actual</a:t>
            </a:r>
            <a:endParaRPr lang="es-PE" sz="4800"/>
          </a:p>
        </p:txBody>
      </p:sp>
      <p:sp>
        <p:nvSpPr>
          <p:cNvPr id="6" name="Text"/>
          <p:cNvSpPr/>
          <p:nvPr/>
        </p:nvSpPr>
        <p:spPr>
          <a:xfrm>
            <a:off x="723900" y="2914650"/>
            <a:ext cx="6858000" cy="552450"/>
          </a:xfrm>
          <a:noFill/>
          <a:ln>
            <a:noFill/>
          </a:ln>
        </p:spPr>
        <p:txBody>
          <a:bodyPr lIns="0" tIns="0" rIns="0" bIns="0" anchor="top"/>
          <a:lstStyle/>
          <a:p>
            <a:pPr algn="l" lvl="0">
              <a:buNone/>
            </a:pPr>
            <a:r>
              <a:rPr lang="es-PE" sz="2400" b="0" i="0">
                <a:solidFill>
                  <a:srgbClr val="202124"/>
                </a:solidFill>
                <a:latin typeface="Lusitana"/>
              </a:rPr>
              <a:t>Agente de empleabilidad, dashboard y normalización curricular</a:t>
            </a:r>
            <a:endParaRPr lang="es-PE" sz="2400"/>
          </a:p>
        </p:txBody>
      </p:sp>
      <p:sp>
        <p:nvSpPr>
          <p:cNvPr id="7" name="Rule"/>
          <p:cNvSpPr/>
          <p:nvPr/>
        </p:nvSpPr>
        <p:spPr>
          <a:xfrm rot="0">
            <a:off x="723900" y="4019550"/>
            <a:ext cx="3848100" cy="38100"/>
          </a:xfrm>
          <a:prstGeom prst="rect">
            <a:avLst/>
          </a:prstGeom>
          <a:noFill/>
          <a:ln w="38100">
            <a:solidFill>
              <a:srgbClr val="FF5117"/>
            </a:solidFill>
          </a:ln>
        </p:spPr>
      </p:sp>
      <p:sp>
        <p:nvSpPr>
          <p:cNvPr id="8" name="Text"/>
          <p:cNvSpPr/>
          <p:nvPr/>
        </p:nvSpPr>
        <p:spPr>
          <a:xfrm>
            <a:off x="723900" y="4248150"/>
            <a:ext cx="5334000" cy="285750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1800" b="0" i="0">
                <a:solidFill>
                  <a:srgbClr val="97999B"/>
                </a:solidFill>
                <a:latin typeface="Roboto"/>
              </a:rPr>
              <a:t>Informe y presentación técnica</a:t>
            </a:r>
            <a:endParaRPr lang="es-PE" sz="1800"/>
          </a:p>
        </p:txBody>
      </p:sp>
      <p:sp>
        <p:nvSpPr>
          <p:cNvPr id="9" name="Text"/>
          <p:cNvSpPr/>
          <p:nvPr/>
        </p:nvSpPr>
        <p:spPr>
          <a:xfrm>
            <a:off x="723900" y="4743450"/>
            <a:ext cx="5334000" cy="257175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1500" b="0" i="0">
                <a:solidFill>
                  <a:srgbClr val="97999B"/>
                </a:solidFill>
                <a:latin typeface="IBM Plex Mono"/>
              </a:rPr>
              <a:t>Corte de evidencia · 26 de agosto de 2026</a:t>
            </a:r>
            <a:endParaRPr lang="es-PE" sz="1500"/>
          </a:p>
        </p:txBody>
      </p:sp>
      <p:sp>
        <p:nvSpPr>
          <p:cNvPr id="10" name="Shape"/>
          <p:cNvSpPr/>
          <p:nvPr/>
        </p:nvSpPr>
        <p:spPr>
          <a:xfrm>
            <a:off x="8496300" y="1562100"/>
            <a:ext cx="2647950" cy="2647950"/>
          </a:xfrm>
          <a:prstGeom prst="roundRect">
            <a:avLst/>
          </a:prstGeom>
          <a:solidFill>
            <a:srgbClr val="111111"/>
          </a:solidFill>
          <a:ln>
            <a:noFill/>
          </a:ln>
        </p:spPr>
      </p:sp>
      <p:sp>
        <p:nvSpPr>
          <p:cNvPr id="11" name="Text"/>
          <p:cNvSpPr/>
          <p:nvPr/>
        </p:nvSpPr>
        <p:spPr>
          <a:xfrm>
            <a:off x="8858250" y="1866900"/>
            <a:ext cx="1905000" cy="495300"/>
          </a:xfrm>
          <a:noFill/>
          <a:ln>
            <a:noFill/>
          </a:ln>
        </p:spPr>
        <p:txBody>
          <a:bodyPr lIns="0" tIns="0" rIns="0" bIns="0" anchor="mid"/>
          <a:lstStyle/>
          <a:p>
            <a:pPr algn="c" lvl="0">
              <a:buNone/>
            </a:pPr>
            <a:r>
              <a:rPr lang="es-PE" sz="4500" b="1" i="0">
                <a:solidFill>
                  <a:srgbClr val="FF5117"/>
                </a:solidFill>
                <a:latin typeface="Roboto"/>
              </a:rPr>
              <a:t>12</a:t>
            </a:r>
            <a:endParaRPr lang="es-PE" sz="4500"/>
          </a:p>
        </p:txBody>
      </p:sp>
      <p:sp>
        <p:nvSpPr>
          <p:cNvPr id="12" name="Text"/>
          <p:cNvSpPr/>
          <p:nvPr/>
        </p:nvSpPr>
        <p:spPr>
          <a:xfrm>
            <a:off x="8858250" y="2457450"/>
            <a:ext cx="1905000" cy="247650"/>
          </a:xfrm>
          <a:noFill/>
          <a:ln>
            <a:noFill/>
          </a:ln>
        </p:spPr>
        <p:txBody>
          <a:bodyPr lIns="0" tIns="0" rIns="0" bIns="0" anchor="mid"/>
          <a:lstStyle/>
          <a:p>
            <a:pPr algn="c" lvl="0">
              <a:buNone/>
            </a:pPr>
            <a:r>
              <a:rPr lang="es-PE" sz="1600" b="0" i="0">
                <a:solidFill>
                  <a:srgbClr val="FAFAFA"/>
                </a:solidFill>
                <a:latin typeface="Roboto"/>
              </a:rPr>
              <a:t>nodos lógicos</a:t>
            </a:r>
            <a:endParaRPr lang="es-PE" sz="1600"/>
          </a:p>
        </p:txBody>
      </p:sp>
      <p:sp>
        <p:nvSpPr>
          <p:cNvPr id="13" name="Rule"/>
          <p:cNvSpPr/>
          <p:nvPr/>
        </p:nvSpPr>
        <p:spPr>
          <a:xfrm rot="0">
            <a:off x="8972550" y="3038475"/>
            <a:ext cx="1695450" cy="9525"/>
          </a:xfrm>
          <a:prstGeom prst="rect">
            <a:avLst/>
          </a:prstGeom>
          <a:noFill/>
          <a:ln w="9525">
            <a:solidFill>
              <a:srgbClr val="97999B"/>
            </a:solidFill>
          </a:ln>
        </p:spPr>
      </p:sp>
      <p:sp>
        <p:nvSpPr>
          <p:cNvPr id="14" name="Text"/>
          <p:cNvSpPr/>
          <p:nvPr/>
        </p:nvSpPr>
        <p:spPr>
          <a:xfrm>
            <a:off x="8858250" y="3257550"/>
            <a:ext cx="1905000" cy="457200"/>
          </a:xfrm>
          <a:noFill/>
          <a:ln>
            <a:noFill/>
          </a:ln>
        </p:spPr>
        <p:txBody>
          <a:bodyPr lIns="0" tIns="0" rIns="0" bIns="0" anchor="mid"/>
          <a:lstStyle/>
          <a:p>
            <a:pPr algn="c" lvl="0">
              <a:buNone/>
            </a:pPr>
            <a:r>
              <a:rPr lang="es-PE" sz="3600" b="1" i="0">
                <a:solidFill>
                  <a:srgbClr val="FAFAFA"/>
                </a:solidFill>
                <a:latin typeface="Roboto"/>
              </a:rPr>
              <a:t>606</a:t>
            </a:r>
            <a:endParaRPr lang="es-PE" sz="3600"/>
          </a:p>
        </p:txBody>
      </p:sp>
      <p:sp>
        <p:nvSpPr>
          <p:cNvPr id="15" name="Text"/>
          <p:cNvSpPr/>
          <p:nvPr/>
        </p:nvSpPr>
        <p:spPr>
          <a:xfrm>
            <a:off x="8858250" y="3790950"/>
            <a:ext cx="1905000" cy="190500"/>
          </a:xfrm>
          <a:noFill/>
          <a:ln>
            <a:noFill/>
          </a:ln>
        </p:spPr>
        <p:txBody>
          <a:bodyPr lIns="0" tIns="0" rIns="0" bIns="0" anchor="mid"/>
          <a:lstStyle/>
          <a:p>
            <a:pPr algn="c" lvl="0">
              <a:buNone/>
            </a:pPr>
            <a:r>
              <a:rPr lang="es-PE" sz="1300" b="0" i="0">
                <a:solidFill>
                  <a:srgbClr val="97999B"/>
                </a:solidFill>
                <a:latin typeface="Roboto"/>
              </a:rPr>
              <a:t>tests backend passed</a:t>
            </a:r>
            <a:endParaRPr lang="es-PE" sz="1300"/>
          </a:p>
        </p:txBody>
      </p:sp>
      <p:sp>
        <p:nvSpPr>
          <p:cNvPr id="16" name="Rule"/>
          <p:cNvSpPr/>
          <p:nvPr/>
        </p:nvSpPr>
        <p:spPr>
          <a:xfrm rot="0">
            <a:off x="685800" y="6486525"/>
            <a:ext cx="10820400" cy="9525"/>
          </a:xfrm>
          <a:prstGeom prst="rect">
            <a:avLst/>
          </a:prstGeom>
          <a:noFill/>
          <a:ln w="9525">
            <a:solidFill>
              <a:srgbClr val="E4E4E7"/>
            </a:solidFill>
          </a:ln>
        </p:spPr>
      </p:sp>
      <p:sp>
        <p:nvSpPr>
          <p:cNvPr id="17" name="Text"/>
          <p:cNvSpPr/>
          <p:nvPr/>
        </p:nvSpPr>
        <p:spPr>
          <a:xfrm>
            <a:off x="685800" y="6553200"/>
            <a:ext cx="8191500" cy="142875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900" b="0" i="0">
                <a:solidFill>
                  <a:srgbClr val="97999B"/>
                </a:solidFill>
                <a:latin typeface="IBM Plex Mono"/>
              </a:rPr>
              <a:t>CIAR · estado técnico · 26.08.2026 · fuente: código y verificaciones locales</a:t>
            </a:r>
            <a:endParaRPr lang="es-PE" sz="900"/>
          </a:p>
        </p:txBody>
      </p:sp>
      <p:sp>
        <p:nvSpPr>
          <p:cNvPr id="18" name="Text"/>
          <p:cNvSpPr/>
          <p:nvPr/>
        </p:nvSpPr>
        <p:spPr>
          <a:xfrm>
            <a:off x="10763250" y="6553200"/>
            <a:ext cx="742950" cy="142875"/>
          </a:xfrm>
          <a:noFill/>
          <a:ln>
            <a:noFill/>
          </a:ln>
        </p:spPr>
        <p:txBody>
          <a:bodyPr lIns="0" tIns="0" rIns="0" bIns="0" anchor="mid"/>
          <a:lstStyle/>
          <a:p>
            <a:pPr algn="r" lvl="0">
              <a:buNone/>
            </a:pPr>
            <a:r>
              <a:rPr lang="es-PE" sz="1000" b="1" i="0">
                <a:solidFill>
                  <a:srgbClr val="FF5117"/>
                </a:solidFill>
                <a:latin typeface="Roboto"/>
              </a:rPr>
              <a:t>ULIMA</a:t>
            </a:r>
            <a:endParaRPr lang="es-PE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</a:xfrm>
        <a:prstGeom prst="rect">
          <a:avLst/>
        </a:prstGeom>
      </p:grpSpPr>
      <p:sp>
        <p:nvSpPr>
          <p:cNvPr id="19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</p:sp>
      <p:sp>
        <p:nvSpPr>
          <p:cNvPr id="20" name="Slide title"/>
          <p:cNvSpPr/>
          <p:nvPr/>
        </p:nvSpPr>
        <p:spPr>
          <a:xfrm>
            <a:off x="685800" y="533400"/>
            <a:ext cx="10477500" cy="514350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3400" b="1" i="0">
                <a:solidFill>
                  <a:srgbClr val="111111"/>
                </a:solidFill>
                <a:latin typeface="Roboto"/>
              </a:rPr>
              <a:t>La base funcional está lista; el siguiente salto es productizar</a:t>
            </a:r>
            <a:endParaRPr lang="es-PE" sz="3400"/>
          </a:p>
        </p:txBody>
      </p:sp>
      <p:sp>
        <p:nvSpPr>
          <p:cNvPr id="21" name="Text"/>
          <p:cNvSpPr/>
          <p:nvPr/>
        </p:nvSpPr>
        <p:spPr>
          <a:xfrm>
            <a:off x="704850" y="1076325"/>
            <a:ext cx="9334500" cy="247650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1500" b="0" i="0">
                <a:solidFill>
                  <a:srgbClr val="97999B"/>
                </a:solidFill>
                <a:latin typeface="Roboto"/>
              </a:rPr>
              <a:t>Lectura ejecutiva del estado del repositorio</a:t>
            </a:r>
            <a:endParaRPr lang="es-PE" sz="1500"/>
          </a:p>
        </p:txBody>
      </p:sp>
      <p:sp>
        <p:nvSpPr>
          <p:cNvPr id="22" name="Rule"/>
          <p:cNvSpPr/>
          <p:nvPr/>
        </p:nvSpPr>
        <p:spPr>
          <a:xfrm rot="0">
            <a:off x="685800" y="1428750"/>
            <a:ext cx="10820400" cy="9525"/>
          </a:xfrm>
          <a:prstGeom prst="rect">
            <a:avLst/>
          </a:prstGeom>
          <a:noFill/>
          <a:ln w="9525">
            <a:solidFill>
              <a:srgbClr val="E4E4E7"/>
            </a:solidFill>
          </a:ln>
        </p:spPr>
      </p:sp>
      <p:sp>
        <p:nvSpPr>
          <p:cNvPr id="23" name="Text"/>
          <p:cNvSpPr/>
          <p:nvPr/>
        </p:nvSpPr>
        <p:spPr>
          <a:xfrm>
            <a:off x="704850" y="1724025"/>
            <a:ext cx="6858000" cy="523875"/>
          </a:xfrm>
          <a:noFill/>
          <a:ln>
            <a:noFill/>
          </a:ln>
        </p:spPr>
        <p:txBody>
          <a:bodyPr lIns="0" tIns="0" rIns="0" bIns="0" anchor="top"/>
          <a:lstStyle/>
          <a:p>
            <a:pPr algn="l" lvl="0">
              <a:buNone/>
            </a:pPr>
            <a:r>
              <a:rPr lang="es-PE" sz="2500" b="1" i="0">
                <a:solidFill>
                  <a:srgbClr val="111111"/>
                </a:solidFill>
                <a:latin typeface="Lusitana"/>
              </a:rPr>
              <a:t>CIAR ya tiene un núcleo consultable, controlado y probado en local. La brecha principal está en la operación real, no en añadir más complejidad al grafo.</a:t>
            </a:r>
            <a:endParaRPr lang="es-PE" sz="2500"/>
          </a:p>
        </p:txBody>
      </p:sp>
      <p:sp>
        <p:nvSpPr>
          <p:cNvPr id="24" name="Card"/>
          <p:cNvSpPr/>
          <p:nvPr/>
        </p:nvSpPr>
        <p:spPr>
          <a:xfrm>
            <a:off x="704850" y="2876550"/>
            <a:ext cx="3333750" cy="2000250"/>
          </a:xfrm>
          <a:prstGeom prst="roundRect">
            <a:avLst/>
          </a:prstGeom>
          <a:solidFill>
            <a:srgbClr val="F1F1F3"/>
          </a:solidFill>
          <a:ln>
            <a:noFill/>
          </a:ln>
        </p:spPr>
      </p:sp>
      <p:sp>
        <p:nvSpPr>
          <p:cNvPr id="25" name="Accent"/>
          <p:cNvSpPr/>
          <p:nvPr/>
        </p:nvSpPr>
        <p:spPr>
          <a:xfrm>
            <a:off x="704850" y="2876550"/>
            <a:ext cx="57150" cy="2000250"/>
          </a:xfrm>
          <a:prstGeom prst="rect">
            <a:avLst/>
          </a:prstGeom>
          <a:solidFill>
            <a:srgbClr val="00C78B"/>
          </a:solidFill>
          <a:ln>
            <a:noFill/>
          </a:ln>
        </p:spPr>
      </p:sp>
      <p:sp>
        <p:nvSpPr>
          <p:cNvPr id="26" name="Text"/>
          <p:cNvSpPr/>
          <p:nvPr/>
        </p:nvSpPr>
        <p:spPr>
          <a:xfrm>
            <a:off x="914400" y="3048000"/>
            <a:ext cx="2933700" cy="161925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1100" b="1" i="0">
                <a:solidFill>
                  <a:srgbClr val="00C78B"/>
                </a:solidFill>
                <a:latin typeface="IBM Plex Mono"/>
              </a:rPr>
              <a:t>NÚCLEO</a:t>
            </a:r>
            <a:endParaRPr lang="es-PE" sz="1100"/>
          </a:p>
        </p:txBody>
      </p:sp>
      <p:sp>
        <p:nvSpPr>
          <p:cNvPr id="27" name="Text"/>
          <p:cNvSpPr/>
          <p:nvPr/>
        </p:nvSpPr>
        <p:spPr>
          <a:xfrm>
            <a:off x="914400" y="3286125"/>
            <a:ext cx="2933700" cy="314325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2100" b="1" i="0">
                <a:solidFill>
                  <a:srgbClr val="111111"/>
                </a:solidFill>
                <a:latin typeface="Roboto"/>
              </a:rPr>
              <a:t>Controlado</a:t>
            </a:r>
            <a:endParaRPr lang="es-PE" sz="2100"/>
          </a:p>
        </p:txBody>
      </p:sp>
      <p:sp>
        <p:nvSpPr>
          <p:cNvPr id="28" name="Text"/>
          <p:cNvSpPr/>
          <p:nvPr/>
        </p:nvSpPr>
        <p:spPr>
          <a:xfrm>
            <a:off x="914400" y="3695700"/>
            <a:ext cx="2933700" cy="1019175"/>
          </a:xfrm>
          <a:noFill/>
          <a:ln>
            <a:noFill/>
          </a:ln>
        </p:spPr>
        <p:txBody>
          <a:bodyPr lIns="0" tIns="0" rIns="0" bIns="0" anchor="top"/>
          <a:lstStyle/>
          <a:p>
            <a:pPr algn="l" lvl="0">
              <a:buNone/>
            </a:pPr>
            <a:r>
              <a:rPr lang="es-PE" sz="1500" b="0" i="0">
                <a:solidFill>
                  <a:srgbClr val="202124"/>
                </a:solidFill>
                <a:latin typeface="Roboto"/>
              </a:rPr>
              <a:t>Schema vivo, generación parametrizada, resolución de entidades, guardia final y gateway Neo4j READ.</a:t>
            </a:r>
            <a:endParaRPr lang="es-PE" sz="1500"/>
          </a:p>
        </p:txBody>
      </p:sp>
      <p:sp>
        <p:nvSpPr>
          <p:cNvPr id="29" name="Card"/>
          <p:cNvSpPr/>
          <p:nvPr/>
        </p:nvSpPr>
        <p:spPr>
          <a:xfrm>
            <a:off x="4429125" y="2876550"/>
            <a:ext cx="3333750" cy="2000250"/>
          </a:xfrm>
          <a:prstGeom prst="roundRect">
            <a:avLst/>
          </a:prstGeom>
          <a:solidFill>
            <a:srgbClr val="F1F1F3"/>
          </a:solidFill>
          <a:ln>
            <a:noFill/>
          </a:ln>
        </p:spPr>
      </p:sp>
      <p:sp>
        <p:nvSpPr>
          <p:cNvPr id="30" name="Accent"/>
          <p:cNvSpPr/>
          <p:nvPr/>
        </p:nvSpPr>
        <p:spPr>
          <a:xfrm>
            <a:off x="4429125" y="2876550"/>
            <a:ext cx="57150" cy="2000250"/>
          </a:xfrm>
          <a:prstGeom prst="rect">
            <a:avLst/>
          </a:prstGeom>
          <a:solidFill>
            <a:srgbClr val="00C5D6"/>
          </a:solidFill>
          <a:ln>
            <a:noFill/>
          </a:ln>
        </p:spPr>
      </p:sp>
      <p:sp>
        <p:nvSpPr>
          <p:cNvPr id="31" name="Text"/>
          <p:cNvSpPr/>
          <p:nvPr/>
        </p:nvSpPr>
        <p:spPr>
          <a:xfrm>
            <a:off x="4638675" y="3048000"/>
            <a:ext cx="2933700" cy="161925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1100" b="1" i="0">
                <a:solidFill>
                  <a:srgbClr val="00C5D6"/>
                </a:solidFill>
                <a:latin typeface="IBM Plex Mono"/>
              </a:rPr>
              <a:t>PRODUCTO</a:t>
            </a:r>
            <a:endParaRPr lang="es-PE" sz="1100"/>
          </a:p>
        </p:txBody>
      </p:sp>
      <p:sp>
        <p:nvSpPr>
          <p:cNvPr id="32" name="Text"/>
          <p:cNvSpPr/>
          <p:nvPr/>
        </p:nvSpPr>
        <p:spPr>
          <a:xfrm>
            <a:off x="4638675" y="3286125"/>
            <a:ext cx="2933700" cy="314325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2100" b="1" i="0">
                <a:solidFill>
                  <a:srgbClr val="111111"/>
                </a:solidFill>
                <a:latin typeface="Roboto"/>
              </a:rPr>
              <a:t>Parcial</a:t>
            </a:r>
            <a:endParaRPr lang="es-PE" sz="2100"/>
          </a:p>
        </p:txBody>
      </p:sp>
      <p:sp>
        <p:nvSpPr>
          <p:cNvPr id="33" name="Text"/>
          <p:cNvSpPr/>
          <p:nvPr/>
        </p:nvSpPr>
        <p:spPr>
          <a:xfrm>
            <a:off x="4638675" y="3695700"/>
            <a:ext cx="2933700" cy="1019175"/>
          </a:xfrm>
          <a:noFill/>
          <a:ln>
            <a:noFill/>
          </a:ln>
        </p:spPr>
        <p:txBody>
          <a:bodyPr lIns="0" tIns="0" rIns="0" bIns="0" anchor="top"/>
          <a:lstStyle/>
          <a:p>
            <a:pPr algn="l" lvl="0">
              <a:buNone/>
            </a:pPr>
            <a:r>
              <a:rPr lang="es-PE" sz="1500" b="0" i="0">
                <a:solidFill>
                  <a:srgbClr val="202124"/>
                </a:solidFill>
                <a:latin typeface="Roboto"/>
              </a:rPr>
              <a:t>Dashboard y normalizador tienen contratos claros; 7 datasets están activos y 5 permanecen diferidos.</a:t>
            </a:r>
            <a:endParaRPr lang="es-PE" sz="1500"/>
          </a:p>
        </p:txBody>
      </p:sp>
      <p:sp>
        <p:nvSpPr>
          <p:cNvPr id="34" name="Card"/>
          <p:cNvSpPr/>
          <p:nvPr/>
        </p:nvSpPr>
        <p:spPr>
          <a:xfrm>
            <a:off x="8153400" y="2876550"/>
            <a:ext cx="3333750" cy="2000250"/>
          </a:xfrm>
          <a:prstGeom prst="roundRect">
            <a:avLst/>
          </a:prstGeom>
          <a:solidFill>
            <a:srgbClr val="F1F1F3"/>
          </a:solidFill>
          <a:ln>
            <a:noFill/>
          </a:ln>
        </p:spPr>
      </p:sp>
      <p:sp>
        <p:nvSpPr>
          <p:cNvPr id="35" name="Accent"/>
          <p:cNvSpPr/>
          <p:nvPr/>
        </p:nvSpPr>
        <p:spPr>
          <a:xfrm>
            <a:off x="8153400" y="2876550"/>
            <a:ext cx="57150" cy="2000250"/>
          </a:xfrm>
          <a:prstGeom prst="rect">
            <a:avLst/>
          </a:prstGeom>
          <a:solidFill>
            <a:srgbClr val="FFA000"/>
          </a:solidFill>
          <a:ln>
            <a:noFill/>
          </a:ln>
        </p:spPr>
      </p:sp>
      <p:sp>
        <p:nvSpPr>
          <p:cNvPr id="36" name="Text"/>
          <p:cNvSpPr/>
          <p:nvPr/>
        </p:nvSpPr>
        <p:spPr>
          <a:xfrm>
            <a:off x="8362950" y="3048000"/>
            <a:ext cx="2933700" cy="161925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1100" b="1" i="0">
                <a:solidFill>
                  <a:srgbClr val="FFA000"/>
                </a:solidFill>
                <a:latin typeface="IBM Plex Mono"/>
              </a:rPr>
              <a:t>OPERACIÓN</a:t>
            </a:r>
            <a:endParaRPr lang="es-PE" sz="1100"/>
          </a:p>
        </p:txBody>
      </p:sp>
      <p:sp>
        <p:nvSpPr>
          <p:cNvPr id="37" name="Text"/>
          <p:cNvSpPr/>
          <p:nvPr/>
        </p:nvSpPr>
        <p:spPr>
          <a:xfrm>
            <a:off x="8362950" y="3286125"/>
            <a:ext cx="2933700" cy="314325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2100" b="1" i="0">
                <a:solidFill>
                  <a:srgbClr val="111111"/>
                </a:solidFill>
                <a:latin typeface="Roboto"/>
              </a:rPr>
              <a:t>Pendiente</a:t>
            </a:r>
            <a:endParaRPr lang="es-PE" sz="2100"/>
          </a:p>
        </p:txBody>
      </p:sp>
      <p:sp>
        <p:nvSpPr>
          <p:cNvPr id="38" name="Text"/>
          <p:cNvSpPr/>
          <p:nvPr/>
        </p:nvSpPr>
        <p:spPr>
          <a:xfrm>
            <a:off x="8362950" y="3695700"/>
            <a:ext cx="2933700" cy="1019175"/>
          </a:xfrm>
          <a:noFill/>
          <a:ln>
            <a:noFill/>
          </a:ln>
        </p:spPr>
        <p:txBody>
          <a:bodyPr lIns="0" tIns="0" rIns="0" bIns="0" anchor="top"/>
          <a:lstStyle/>
          <a:p>
            <a:pPr algn="l" lvl="0">
              <a:buNone/>
            </a:pPr>
            <a:r>
              <a:rPr lang="es-PE" sz="1500" b="0" i="0">
                <a:solidFill>
                  <a:srgbClr val="202124"/>
                </a:solidFill>
                <a:latin typeface="Roboto"/>
              </a:rPr>
              <a:t>Falta aceptación end-to-end con servicios reales, auth, rate limiting, CI/CD y pruebas de resiliencia.</a:t>
            </a:r>
            <a:endParaRPr lang="es-PE" sz="1500"/>
          </a:p>
        </p:txBody>
      </p:sp>
      <p:sp>
        <p:nvSpPr>
          <p:cNvPr id="39" name="Rule"/>
          <p:cNvSpPr/>
          <p:nvPr/>
        </p:nvSpPr>
        <p:spPr>
          <a:xfrm rot="0">
            <a:off x="685800" y="6486525"/>
            <a:ext cx="10820400" cy="9525"/>
          </a:xfrm>
          <a:prstGeom prst="rect">
            <a:avLst/>
          </a:prstGeom>
          <a:noFill/>
          <a:ln w="9525">
            <a:solidFill>
              <a:srgbClr val="E4E4E7"/>
            </a:solidFill>
          </a:ln>
        </p:spPr>
      </p:sp>
      <p:sp>
        <p:nvSpPr>
          <p:cNvPr id="40" name="Text"/>
          <p:cNvSpPr/>
          <p:nvPr/>
        </p:nvSpPr>
        <p:spPr>
          <a:xfrm>
            <a:off x="685800" y="6553200"/>
            <a:ext cx="8191500" cy="142875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900" b="0" i="0">
                <a:solidFill>
                  <a:srgbClr val="97999B"/>
                </a:solidFill>
                <a:latin typeface="IBM Plex Mono"/>
              </a:rPr>
              <a:t>CIAR · estado técnico · 26.08.2026 · fuente: constructor.py, servidor.py, PLAN_DASHBOARD_TENDENCIAS.md</a:t>
            </a:r>
            <a:endParaRPr lang="es-PE" sz="900"/>
          </a:p>
        </p:txBody>
      </p:sp>
      <p:sp>
        <p:nvSpPr>
          <p:cNvPr id="41" name="Text"/>
          <p:cNvSpPr/>
          <p:nvPr/>
        </p:nvSpPr>
        <p:spPr>
          <a:xfrm>
            <a:off x="10763250" y="6553200"/>
            <a:ext cx="742950" cy="142875"/>
          </a:xfrm>
          <a:noFill/>
          <a:ln>
            <a:noFill/>
          </a:ln>
        </p:spPr>
        <p:txBody>
          <a:bodyPr lIns="0" tIns="0" rIns="0" bIns="0" anchor="mid"/>
          <a:lstStyle/>
          <a:p>
            <a:pPr algn="r" lvl="0">
              <a:buNone/>
            </a:pPr>
            <a:r>
              <a:rPr lang="es-PE" sz="1000" b="1" i="0">
                <a:solidFill>
                  <a:srgbClr val="FF5117"/>
                </a:solidFill>
                <a:latin typeface="Roboto"/>
              </a:rPr>
              <a:t>ULIMA</a:t>
            </a:r>
            <a:endParaRPr lang="es-PE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</a:xfrm>
        <a:prstGeom prst="rect">
          <a:avLst/>
        </a:prstGeom>
      </p:grpSpPr>
      <p:sp>
        <p:nvSpPr>
          <p:cNvPr id="4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</p:sp>
      <p:sp>
        <p:nvSpPr>
          <p:cNvPr id="43" name="Slide title"/>
          <p:cNvSpPr/>
          <p:nvPr/>
        </p:nvSpPr>
        <p:spPr>
          <a:xfrm>
            <a:off x="685800" y="533400"/>
            <a:ext cx="10477500" cy="514350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3400" b="1" i="0">
                <a:solidFill>
                  <a:srgbClr val="111111"/>
                </a:solidFill>
                <a:latin typeface="Roboto"/>
              </a:rPr>
              <a:t>Dos planos, una frontera de datos</a:t>
            </a:r>
            <a:endParaRPr lang="es-PE" sz="3400"/>
          </a:p>
        </p:txBody>
      </p:sp>
      <p:sp>
        <p:nvSpPr>
          <p:cNvPr id="44" name="Text"/>
          <p:cNvSpPr/>
          <p:nvPr/>
        </p:nvSpPr>
        <p:spPr>
          <a:xfrm>
            <a:off x="704850" y="1076325"/>
            <a:ext cx="9334500" cy="247650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1500" b="0" i="0">
                <a:solidFill>
                  <a:srgbClr val="97999B"/>
                </a:solidFill>
                <a:latin typeface="Roboto"/>
              </a:rPr>
              <a:t>La consulta está aislada de la curación y publicación</a:t>
            </a:r>
            <a:endParaRPr lang="es-PE" sz="1500"/>
          </a:p>
        </p:txBody>
      </p:sp>
      <p:sp>
        <p:nvSpPr>
          <p:cNvPr id="45" name="Rule"/>
          <p:cNvSpPr/>
          <p:nvPr/>
        </p:nvSpPr>
        <p:spPr>
          <a:xfrm rot="0">
            <a:off x="685800" y="1428750"/>
            <a:ext cx="10820400" cy="9525"/>
          </a:xfrm>
          <a:prstGeom prst="rect">
            <a:avLst/>
          </a:prstGeom>
          <a:noFill/>
          <a:ln w="9525">
            <a:solidFill>
              <a:srgbClr val="E4E4E7"/>
            </a:solidFill>
          </a:ln>
        </p:spPr>
      </p:sp>
      <p:sp>
        <p:nvSpPr>
          <p:cNvPr id="46" name="Text"/>
          <p:cNvSpPr/>
          <p:nvPr/>
        </p:nvSpPr>
        <p:spPr>
          <a:xfrm>
            <a:off x="714375" y="1714500"/>
            <a:ext cx="2190750" cy="209550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1200" b="1" i="0">
                <a:solidFill>
                  <a:srgbClr val="FF5117"/>
                </a:solidFill>
                <a:latin typeface="IBM Plex Mono"/>
              </a:rPr>
              <a:t>PLANO DE CONSULTA</a:t>
            </a:r>
            <a:endParaRPr lang="es-PE" sz="1200"/>
          </a:p>
        </p:txBody>
      </p:sp>
      <p:sp>
        <p:nvSpPr>
          <p:cNvPr id="47" name="Architecture node"/>
          <p:cNvSpPr/>
          <p:nvPr/>
        </p:nvSpPr>
        <p:spPr>
          <a:xfrm>
            <a:off x="704850" y="2209800"/>
            <a:ext cx="1714500" cy="533400"/>
          </a:xfrm>
          <a:prstGeom prst="roundRect">
            <a:avLst/>
          </a:prstGeom>
          <a:solidFill>
            <a:srgbClr val="F1F1F3"/>
          </a:solidFill>
          <a:ln>
            <a:noFill/>
          </a:ln>
        </p:spPr>
      </p:sp>
      <p:sp>
        <p:nvSpPr>
          <p:cNvPr id="48" name="Node accent"/>
          <p:cNvSpPr/>
          <p:nvPr/>
        </p:nvSpPr>
        <p:spPr>
          <a:xfrm>
            <a:off x="704850" y="2209800"/>
            <a:ext cx="47625" cy="533400"/>
          </a:xfrm>
          <a:prstGeom prst="rect">
            <a:avLst/>
          </a:prstGeom>
          <a:solidFill>
            <a:srgbClr val="FF5117"/>
          </a:solidFill>
          <a:ln>
            <a:noFill/>
          </a:ln>
        </p:spPr>
      </p:sp>
      <p:sp>
        <p:nvSpPr>
          <p:cNvPr id="49" name="Text"/>
          <p:cNvSpPr/>
          <p:nvPr/>
        </p:nvSpPr>
        <p:spPr>
          <a:xfrm>
            <a:off x="838200" y="2228850"/>
            <a:ext cx="1504950" cy="495300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1400" b="1" i="0">
                <a:solidFill>
                  <a:srgbClr val="111111"/>
                </a:solidFill>
                <a:latin typeface="Roboto"/>
              </a:rPr>
              <a:t>Next.js / React</a:t>
            </a:r>
            <a:endParaRPr lang="es-PE" sz="1400"/>
          </a:p>
        </p:txBody>
      </p:sp>
      <p:sp>
        <p:nvSpPr>
          <p:cNvPr id="50" name="Architecture node"/>
          <p:cNvSpPr/>
          <p:nvPr/>
        </p:nvSpPr>
        <p:spPr>
          <a:xfrm>
            <a:off x="2895600" y="2209800"/>
            <a:ext cx="1714500" cy="533400"/>
          </a:xfrm>
          <a:prstGeom prst="roundRect">
            <a:avLst/>
          </a:prstGeom>
          <a:solidFill>
            <a:srgbClr val="F1F1F3"/>
          </a:solidFill>
          <a:ln>
            <a:noFill/>
          </a:ln>
        </p:spPr>
      </p:sp>
      <p:sp>
        <p:nvSpPr>
          <p:cNvPr id="51" name="Node accent"/>
          <p:cNvSpPr/>
          <p:nvPr/>
        </p:nvSpPr>
        <p:spPr>
          <a:xfrm>
            <a:off x="2895600" y="2209800"/>
            <a:ext cx="47625" cy="533400"/>
          </a:xfrm>
          <a:prstGeom prst="rect">
            <a:avLst/>
          </a:prstGeom>
          <a:solidFill>
            <a:srgbClr val="FF5117"/>
          </a:solidFill>
          <a:ln>
            <a:noFill/>
          </a:ln>
        </p:spPr>
      </p:sp>
      <p:sp>
        <p:nvSpPr>
          <p:cNvPr id="52" name="Text"/>
          <p:cNvSpPr/>
          <p:nvPr/>
        </p:nvSpPr>
        <p:spPr>
          <a:xfrm>
            <a:off x="3028950" y="2228850"/>
            <a:ext cx="1504950" cy="495300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1400" b="1" i="0">
                <a:solidFill>
                  <a:srgbClr val="111111"/>
                </a:solidFill>
                <a:latin typeface="Roboto"/>
              </a:rPr>
              <a:t>FastAPI</a:t>
            </a:r>
            <a:endParaRPr lang="es-PE" sz="1400"/>
          </a:p>
        </p:txBody>
      </p:sp>
      <p:sp>
        <p:nvSpPr>
          <p:cNvPr id="53" name="Architecture node"/>
          <p:cNvSpPr/>
          <p:nvPr/>
        </p:nvSpPr>
        <p:spPr>
          <a:xfrm>
            <a:off x="5086350" y="2209800"/>
            <a:ext cx="1714500" cy="533400"/>
          </a:xfrm>
          <a:prstGeom prst="roundRect">
            <a:avLst/>
          </a:prstGeom>
          <a:solidFill>
            <a:srgbClr val="111111"/>
          </a:solidFill>
          <a:ln>
            <a:noFill/>
          </a:ln>
        </p:spPr>
      </p:sp>
      <p:sp>
        <p:nvSpPr>
          <p:cNvPr id="54" name="Node accent"/>
          <p:cNvSpPr/>
          <p:nvPr/>
        </p:nvSpPr>
        <p:spPr>
          <a:xfrm>
            <a:off x="5086350" y="2209800"/>
            <a:ext cx="47625" cy="533400"/>
          </a:xfrm>
          <a:prstGeom prst="rect">
            <a:avLst/>
          </a:prstGeom>
          <a:solidFill>
            <a:srgbClr val="FF5117"/>
          </a:solidFill>
          <a:ln>
            <a:noFill/>
          </a:ln>
        </p:spPr>
      </p:sp>
      <p:sp>
        <p:nvSpPr>
          <p:cNvPr id="55" name="Text"/>
          <p:cNvSpPr/>
          <p:nvPr/>
        </p:nvSpPr>
        <p:spPr>
          <a:xfrm>
            <a:off x="5219700" y="2228850"/>
            <a:ext cx="1504950" cy="495300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1400" b="1" i="0">
                <a:solidFill>
                  <a:srgbClr val="FAFAFA"/>
                </a:solidFill>
                <a:latin typeface="Roboto"/>
              </a:rPr>
              <a:t>LangGraph</a:t>
            </a:r>
            <a:endParaRPr lang="es-PE" sz="1400"/>
          </a:p>
        </p:txBody>
      </p:sp>
      <p:sp>
        <p:nvSpPr>
          <p:cNvPr id="56" name="Architecture node"/>
          <p:cNvSpPr/>
          <p:nvPr/>
        </p:nvSpPr>
        <p:spPr>
          <a:xfrm>
            <a:off x="7277100" y="2209800"/>
            <a:ext cx="1714500" cy="533400"/>
          </a:xfrm>
          <a:prstGeom prst="roundRect">
            <a:avLst/>
          </a:prstGeom>
          <a:solidFill>
            <a:srgbClr val="F1F1F3"/>
          </a:solidFill>
          <a:ln>
            <a:noFill/>
          </a:ln>
        </p:spPr>
      </p:sp>
      <p:sp>
        <p:nvSpPr>
          <p:cNvPr id="57" name="Node accent"/>
          <p:cNvSpPr/>
          <p:nvPr/>
        </p:nvSpPr>
        <p:spPr>
          <a:xfrm>
            <a:off x="7277100" y="2209800"/>
            <a:ext cx="47625" cy="533400"/>
          </a:xfrm>
          <a:prstGeom prst="rect">
            <a:avLst/>
          </a:prstGeom>
          <a:solidFill>
            <a:srgbClr val="00C5D6"/>
          </a:solidFill>
          <a:ln>
            <a:noFill/>
          </a:ln>
        </p:spPr>
      </p:sp>
      <p:sp>
        <p:nvSpPr>
          <p:cNvPr id="58" name="Text"/>
          <p:cNvSpPr/>
          <p:nvPr/>
        </p:nvSpPr>
        <p:spPr>
          <a:xfrm>
            <a:off x="7410450" y="2228850"/>
            <a:ext cx="1504950" cy="495300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1400" b="1" i="0">
                <a:solidFill>
                  <a:srgbClr val="111111"/>
                </a:solidFill>
                <a:latin typeface="Roboto"/>
              </a:rPr>
              <a:t>OpenAI</a:t>
            </a:r>
            <a:endParaRPr lang="es-PE" sz="1400"/>
          </a:p>
        </p:txBody>
      </p:sp>
      <p:sp>
        <p:nvSpPr>
          <p:cNvPr id="59" name="Architecture node"/>
          <p:cNvSpPr/>
          <p:nvPr/>
        </p:nvSpPr>
        <p:spPr>
          <a:xfrm>
            <a:off x="9467850" y="2209800"/>
            <a:ext cx="1809750" cy="533400"/>
          </a:xfrm>
          <a:prstGeom prst="roundRect">
            <a:avLst/>
          </a:prstGeom>
          <a:solidFill>
            <a:srgbClr val="111111"/>
          </a:solidFill>
          <a:ln>
            <a:noFill/>
          </a:ln>
        </p:spPr>
      </p:sp>
      <p:sp>
        <p:nvSpPr>
          <p:cNvPr id="60" name="Node accent"/>
          <p:cNvSpPr/>
          <p:nvPr/>
        </p:nvSpPr>
        <p:spPr>
          <a:xfrm>
            <a:off x="9467850" y="2209800"/>
            <a:ext cx="47625" cy="533400"/>
          </a:xfrm>
          <a:prstGeom prst="rect">
            <a:avLst/>
          </a:prstGeom>
          <a:solidFill>
            <a:srgbClr val="00C78B"/>
          </a:solidFill>
          <a:ln>
            <a:noFill/>
          </a:ln>
        </p:spPr>
      </p:sp>
      <p:sp>
        <p:nvSpPr>
          <p:cNvPr id="61" name="Text"/>
          <p:cNvSpPr/>
          <p:nvPr/>
        </p:nvSpPr>
        <p:spPr>
          <a:xfrm>
            <a:off x="9601200" y="2228850"/>
            <a:ext cx="1600200" cy="495300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1400" b="1" i="0">
                <a:solidFill>
                  <a:srgbClr val="FAFAFA"/>
                </a:solidFill>
                <a:latin typeface="Roboto"/>
              </a:rPr>
              <a:t>Neo4j · READ</a:t>
            </a:r>
            <a:endParaRPr lang="es-PE" sz="1400"/>
          </a:p>
        </p:txBody>
      </p:sp>
      <p:sp>
        <p:nvSpPr>
          <p:cNvPr id="62" name="Rule"/>
          <p:cNvSpPr/>
          <p:nvPr/>
        </p:nvSpPr>
        <p:spPr>
          <a:xfrm rot="0">
            <a:off x="2419350" y="2476500"/>
            <a:ext cx="476250" cy="19050"/>
          </a:xfrm>
          <a:prstGeom prst="rect">
            <a:avLst/>
          </a:prstGeom>
          <a:noFill/>
          <a:ln w="19050">
            <a:solidFill>
              <a:srgbClr val="97999B"/>
            </a:solidFill>
          </a:ln>
        </p:spPr>
      </p:sp>
      <p:sp>
        <p:nvSpPr>
          <p:cNvPr id="63" name="Dot"/>
          <p:cNvSpPr/>
          <p:nvPr/>
        </p:nvSpPr>
        <p:spPr>
          <a:xfrm>
            <a:off x="2857500" y="2438400"/>
            <a:ext cx="76200" cy="76200"/>
          </a:xfrm>
          <a:prstGeom prst="ellipse">
            <a:avLst/>
          </a:prstGeom>
          <a:solidFill>
            <a:srgbClr val="97999B"/>
          </a:solidFill>
          <a:ln>
            <a:noFill/>
          </a:ln>
        </p:spPr>
      </p:sp>
      <p:sp>
        <p:nvSpPr>
          <p:cNvPr id="64" name="Rule"/>
          <p:cNvSpPr/>
          <p:nvPr/>
        </p:nvSpPr>
        <p:spPr>
          <a:xfrm rot="0">
            <a:off x="4610100" y="2476500"/>
            <a:ext cx="476250" cy="19050"/>
          </a:xfrm>
          <a:prstGeom prst="rect">
            <a:avLst/>
          </a:prstGeom>
          <a:noFill/>
          <a:ln w="19050">
            <a:solidFill>
              <a:srgbClr val="97999B"/>
            </a:solidFill>
          </a:ln>
        </p:spPr>
      </p:sp>
      <p:sp>
        <p:nvSpPr>
          <p:cNvPr id="65" name="Dot"/>
          <p:cNvSpPr/>
          <p:nvPr/>
        </p:nvSpPr>
        <p:spPr>
          <a:xfrm>
            <a:off x="5048250" y="2438400"/>
            <a:ext cx="76200" cy="76200"/>
          </a:xfrm>
          <a:prstGeom prst="ellipse">
            <a:avLst/>
          </a:prstGeom>
          <a:solidFill>
            <a:srgbClr val="97999B"/>
          </a:solidFill>
          <a:ln>
            <a:noFill/>
          </a:ln>
        </p:spPr>
      </p:sp>
      <p:sp>
        <p:nvSpPr>
          <p:cNvPr id="66" name="Rule"/>
          <p:cNvSpPr/>
          <p:nvPr/>
        </p:nvSpPr>
        <p:spPr>
          <a:xfrm rot="0">
            <a:off x="6800850" y="2476500"/>
            <a:ext cx="476250" cy="19050"/>
          </a:xfrm>
          <a:prstGeom prst="rect">
            <a:avLst/>
          </a:prstGeom>
          <a:noFill/>
          <a:ln w="19050">
            <a:solidFill>
              <a:srgbClr val="97999B"/>
            </a:solidFill>
          </a:ln>
        </p:spPr>
      </p:sp>
      <p:sp>
        <p:nvSpPr>
          <p:cNvPr id="67" name="Dot"/>
          <p:cNvSpPr/>
          <p:nvPr/>
        </p:nvSpPr>
        <p:spPr>
          <a:xfrm>
            <a:off x="7239000" y="2438400"/>
            <a:ext cx="76200" cy="76200"/>
          </a:xfrm>
          <a:prstGeom prst="ellipse">
            <a:avLst/>
          </a:prstGeom>
          <a:solidFill>
            <a:srgbClr val="97999B"/>
          </a:solidFill>
          <a:ln>
            <a:noFill/>
          </a:ln>
        </p:spPr>
      </p:sp>
      <p:sp>
        <p:nvSpPr>
          <p:cNvPr id="68" name="Rule"/>
          <p:cNvSpPr/>
          <p:nvPr/>
        </p:nvSpPr>
        <p:spPr>
          <a:xfrm rot="0">
            <a:off x="8991600" y="2476500"/>
            <a:ext cx="476250" cy="19050"/>
          </a:xfrm>
          <a:prstGeom prst="rect">
            <a:avLst/>
          </a:prstGeom>
          <a:noFill/>
          <a:ln w="19050">
            <a:solidFill>
              <a:srgbClr val="97999B"/>
            </a:solidFill>
          </a:ln>
        </p:spPr>
      </p:sp>
      <p:sp>
        <p:nvSpPr>
          <p:cNvPr id="69" name="Dot"/>
          <p:cNvSpPr/>
          <p:nvPr/>
        </p:nvSpPr>
        <p:spPr>
          <a:xfrm>
            <a:off x="9429750" y="2438400"/>
            <a:ext cx="76200" cy="76200"/>
          </a:xfrm>
          <a:prstGeom prst="ellipse">
            <a:avLst/>
          </a:prstGeom>
          <a:solidFill>
            <a:srgbClr val="97999B"/>
          </a:solidFill>
          <a:ln>
            <a:noFill/>
          </a:ln>
        </p:spPr>
      </p:sp>
      <p:sp>
        <p:nvSpPr>
          <p:cNvPr id="70" name="Rule"/>
          <p:cNvSpPr/>
          <p:nvPr/>
        </p:nvSpPr>
        <p:spPr>
          <a:xfrm rot="0">
            <a:off x="704850" y="3143250"/>
            <a:ext cx="10763250" cy="9525"/>
          </a:xfrm>
          <a:prstGeom prst="rect">
            <a:avLst/>
          </a:prstGeom>
          <a:noFill/>
          <a:ln w="9525">
            <a:solidFill>
              <a:srgbClr val="E4E4E7"/>
            </a:solidFill>
          </a:ln>
        </p:spPr>
      </p:sp>
      <p:sp>
        <p:nvSpPr>
          <p:cNvPr id="71" name="Text"/>
          <p:cNvSpPr/>
          <p:nvPr/>
        </p:nvSpPr>
        <p:spPr>
          <a:xfrm>
            <a:off x="714375" y="3448050"/>
            <a:ext cx="2667000" cy="209550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1200" b="1" i="0">
                <a:solidFill>
                  <a:srgbClr val="00C5D6"/>
                </a:solidFill>
                <a:latin typeface="IBM Plex Mono"/>
              </a:rPr>
              <a:t>PLANO DE CURACIÓN</a:t>
            </a:r>
            <a:endParaRPr lang="es-PE" sz="1200"/>
          </a:p>
        </p:txBody>
      </p:sp>
      <p:sp>
        <p:nvSpPr>
          <p:cNvPr id="72" name="Architecture node"/>
          <p:cNvSpPr/>
          <p:nvPr/>
        </p:nvSpPr>
        <p:spPr>
          <a:xfrm>
            <a:off x="704850" y="3962400"/>
            <a:ext cx="1809750" cy="533400"/>
          </a:xfrm>
          <a:prstGeom prst="roundRect">
            <a:avLst/>
          </a:prstGeom>
          <a:solidFill>
            <a:srgbClr val="F1F1F3"/>
          </a:solidFill>
          <a:ln>
            <a:noFill/>
          </a:ln>
        </p:spPr>
      </p:sp>
      <p:sp>
        <p:nvSpPr>
          <p:cNvPr id="73" name="Node accent"/>
          <p:cNvSpPr/>
          <p:nvPr/>
        </p:nvSpPr>
        <p:spPr>
          <a:xfrm>
            <a:off x="704850" y="3962400"/>
            <a:ext cx="47625" cy="533400"/>
          </a:xfrm>
          <a:prstGeom prst="rect">
            <a:avLst/>
          </a:prstGeom>
          <a:solidFill>
            <a:srgbClr val="00C5D6"/>
          </a:solidFill>
          <a:ln>
            <a:noFill/>
          </a:ln>
        </p:spPr>
      </p:sp>
      <p:sp>
        <p:nvSpPr>
          <p:cNvPr id="74" name="Text"/>
          <p:cNvSpPr/>
          <p:nvPr/>
        </p:nvSpPr>
        <p:spPr>
          <a:xfrm>
            <a:off x="838200" y="3981450"/>
            <a:ext cx="1600200" cy="495300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1400" b="1" i="0">
                <a:solidFill>
                  <a:srgbClr val="111111"/>
                </a:solidFill>
                <a:latin typeface="Roboto"/>
              </a:rPr>
              <a:t>Carga documental</a:t>
            </a:r>
            <a:endParaRPr lang="es-PE" sz="1400"/>
          </a:p>
        </p:txBody>
      </p:sp>
      <p:sp>
        <p:nvSpPr>
          <p:cNvPr id="75" name="Architecture node"/>
          <p:cNvSpPr/>
          <p:nvPr/>
        </p:nvSpPr>
        <p:spPr>
          <a:xfrm>
            <a:off x="3048000" y="3962400"/>
            <a:ext cx="1809750" cy="533400"/>
          </a:xfrm>
          <a:prstGeom prst="roundRect">
            <a:avLst/>
          </a:prstGeom>
          <a:solidFill>
            <a:srgbClr val="F1F1F3"/>
          </a:solidFill>
          <a:ln>
            <a:noFill/>
          </a:ln>
        </p:spPr>
      </p:sp>
      <p:sp>
        <p:nvSpPr>
          <p:cNvPr id="76" name="Node accent"/>
          <p:cNvSpPr/>
          <p:nvPr/>
        </p:nvSpPr>
        <p:spPr>
          <a:xfrm>
            <a:off x="3048000" y="3962400"/>
            <a:ext cx="47625" cy="533400"/>
          </a:xfrm>
          <a:prstGeom prst="rect">
            <a:avLst/>
          </a:prstGeom>
          <a:solidFill>
            <a:srgbClr val="00C5D6"/>
          </a:solidFill>
          <a:ln>
            <a:noFill/>
          </a:ln>
        </p:spPr>
      </p:sp>
      <p:sp>
        <p:nvSpPr>
          <p:cNvPr id="77" name="Text"/>
          <p:cNvSpPr/>
          <p:nvPr/>
        </p:nvSpPr>
        <p:spPr>
          <a:xfrm>
            <a:off x="3181350" y="3981450"/>
            <a:ext cx="1600200" cy="495300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1400" b="1" i="0">
                <a:solidFill>
                  <a:srgbClr val="111111"/>
                </a:solidFill>
                <a:latin typeface="Roboto"/>
              </a:rPr>
              <a:t>Normalizador</a:t>
            </a:r>
            <a:endParaRPr lang="es-PE" sz="1400"/>
          </a:p>
        </p:txBody>
      </p:sp>
      <p:sp>
        <p:nvSpPr>
          <p:cNvPr id="78" name="Architecture node"/>
          <p:cNvSpPr/>
          <p:nvPr/>
        </p:nvSpPr>
        <p:spPr>
          <a:xfrm>
            <a:off x="5391150" y="3962400"/>
            <a:ext cx="1809750" cy="533400"/>
          </a:xfrm>
          <a:prstGeom prst="roundRect">
            <a:avLst/>
          </a:prstGeom>
          <a:solidFill>
            <a:srgbClr val="F1F1F3"/>
          </a:solidFill>
          <a:ln>
            <a:noFill/>
          </a:ln>
        </p:spPr>
      </p:sp>
      <p:sp>
        <p:nvSpPr>
          <p:cNvPr id="79" name="Node accent"/>
          <p:cNvSpPr/>
          <p:nvPr/>
        </p:nvSpPr>
        <p:spPr>
          <a:xfrm>
            <a:off x="5391150" y="3962400"/>
            <a:ext cx="47625" cy="533400"/>
          </a:xfrm>
          <a:prstGeom prst="rect">
            <a:avLst/>
          </a:prstGeom>
          <a:solidFill>
            <a:srgbClr val="FFA000"/>
          </a:solidFill>
          <a:ln>
            <a:noFill/>
          </a:ln>
        </p:spPr>
      </p:sp>
      <p:sp>
        <p:nvSpPr>
          <p:cNvPr id="80" name="Text"/>
          <p:cNvSpPr/>
          <p:nvPr/>
        </p:nvSpPr>
        <p:spPr>
          <a:xfrm>
            <a:off x="5524500" y="3981450"/>
            <a:ext cx="1600200" cy="495300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1400" b="1" i="0">
                <a:solidFill>
                  <a:srgbClr val="111111"/>
                </a:solidFill>
                <a:latin typeface="Roboto"/>
              </a:rPr>
              <a:t>Evidencia + revisión</a:t>
            </a:r>
            <a:endParaRPr lang="es-PE" sz="1400"/>
          </a:p>
        </p:txBody>
      </p:sp>
      <p:sp>
        <p:nvSpPr>
          <p:cNvPr id="81" name="Architecture node"/>
          <p:cNvSpPr/>
          <p:nvPr/>
        </p:nvSpPr>
        <p:spPr>
          <a:xfrm>
            <a:off x="7734300" y="3962400"/>
            <a:ext cx="1809750" cy="533400"/>
          </a:xfrm>
          <a:prstGeom prst="roundRect">
            <a:avLst/>
          </a:prstGeom>
          <a:solidFill>
            <a:srgbClr val="111111"/>
          </a:solidFill>
          <a:ln>
            <a:noFill/>
          </a:ln>
        </p:spPr>
      </p:sp>
      <p:sp>
        <p:nvSpPr>
          <p:cNvPr id="82" name="Node accent"/>
          <p:cNvSpPr/>
          <p:nvPr/>
        </p:nvSpPr>
        <p:spPr>
          <a:xfrm>
            <a:off x="7734300" y="3962400"/>
            <a:ext cx="47625" cy="533400"/>
          </a:xfrm>
          <a:prstGeom prst="rect">
            <a:avLst/>
          </a:prstGeom>
          <a:solidFill>
            <a:srgbClr val="FFA000"/>
          </a:solidFill>
          <a:ln>
            <a:noFill/>
          </a:ln>
        </p:spPr>
      </p:sp>
      <p:sp>
        <p:nvSpPr>
          <p:cNvPr id="83" name="Text"/>
          <p:cNvSpPr/>
          <p:nvPr/>
        </p:nvSpPr>
        <p:spPr>
          <a:xfrm>
            <a:off x="7867650" y="3981450"/>
            <a:ext cx="1600200" cy="495300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1400" b="1" i="0">
                <a:solidFill>
                  <a:srgbClr val="FAFAFA"/>
                </a:solidFill>
                <a:latin typeface="Roboto"/>
              </a:rPr>
              <a:t>Release gate</a:t>
            </a:r>
            <a:endParaRPr lang="es-PE" sz="1400"/>
          </a:p>
        </p:txBody>
      </p:sp>
      <p:sp>
        <p:nvSpPr>
          <p:cNvPr id="84" name="Architecture node"/>
          <p:cNvSpPr/>
          <p:nvPr/>
        </p:nvSpPr>
        <p:spPr>
          <a:xfrm>
            <a:off x="10077450" y="3962400"/>
            <a:ext cx="1200150" cy="533400"/>
          </a:xfrm>
          <a:prstGeom prst="roundRect">
            <a:avLst/>
          </a:prstGeom>
          <a:solidFill>
            <a:srgbClr val="111111"/>
          </a:solidFill>
          <a:ln>
            <a:noFill/>
          </a:ln>
        </p:spPr>
      </p:sp>
      <p:sp>
        <p:nvSpPr>
          <p:cNvPr id="85" name="Node accent"/>
          <p:cNvSpPr/>
          <p:nvPr/>
        </p:nvSpPr>
        <p:spPr>
          <a:xfrm>
            <a:off x="10077450" y="3962400"/>
            <a:ext cx="47625" cy="533400"/>
          </a:xfrm>
          <a:prstGeom prst="rect">
            <a:avLst/>
          </a:prstGeom>
          <a:solidFill>
            <a:srgbClr val="00C78B"/>
          </a:solidFill>
          <a:ln>
            <a:noFill/>
          </a:ln>
        </p:spPr>
      </p:sp>
      <p:sp>
        <p:nvSpPr>
          <p:cNvPr id="86" name="Text"/>
          <p:cNvSpPr/>
          <p:nvPr/>
        </p:nvSpPr>
        <p:spPr>
          <a:xfrm>
            <a:off x="10210800" y="3981450"/>
            <a:ext cx="990600" cy="495300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1400" b="1" i="0">
                <a:solidFill>
                  <a:srgbClr val="FAFAFA"/>
                </a:solidFill>
                <a:latin typeface="Roboto"/>
              </a:rPr>
              <a:t>Import</a:t>
            </a:r>
            <a:endParaRPr lang="es-PE" sz="1400"/>
          </a:p>
        </p:txBody>
      </p:sp>
      <p:sp>
        <p:nvSpPr>
          <p:cNvPr id="87" name="Rule"/>
          <p:cNvSpPr/>
          <p:nvPr/>
        </p:nvSpPr>
        <p:spPr>
          <a:xfrm rot="0">
            <a:off x="2514600" y="4229100"/>
            <a:ext cx="533400" cy="19050"/>
          </a:xfrm>
          <a:prstGeom prst="rect">
            <a:avLst/>
          </a:prstGeom>
          <a:noFill/>
          <a:ln w="19050">
            <a:solidFill>
              <a:srgbClr val="00C5D6"/>
            </a:solidFill>
          </a:ln>
        </p:spPr>
      </p:sp>
      <p:sp>
        <p:nvSpPr>
          <p:cNvPr id="88" name="Dot"/>
          <p:cNvSpPr/>
          <p:nvPr/>
        </p:nvSpPr>
        <p:spPr>
          <a:xfrm>
            <a:off x="3009900" y="4191000"/>
            <a:ext cx="76200" cy="76200"/>
          </a:xfrm>
          <a:prstGeom prst="ellipse">
            <a:avLst/>
          </a:prstGeom>
          <a:solidFill>
            <a:srgbClr val="00C5D6"/>
          </a:solidFill>
          <a:ln>
            <a:noFill/>
          </a:ln>
        </p:spPr>
      </p:sp>
      <p:sp>
        <p:nvSpPr>
          <p:cNvPr id="89" name="Rule"/>
          <p:cNvSpPr/>
          <p:nvPr/>
        </p:nvSpPr>
        <p:spPr>
          <a:xfrm rot="0">
            <a:off x="4857750" y="4229100"/>
            <a:ext cx="533400" cy="19050"/>
          </a:xfrm>
          <a:prstGeom prst="rect">
            <a:avLst/>
          </a:prstGeom>
          <a:noFill/>
          <a:ln w="19050">
            <a:solidFill>
              <a:srgbClr val="00C5D6"/>
            </a:solidFill>
          </a:ln>
        </p:spPr>
      </p:sp>
      <p:sp>
        <p:nvSpPr>
          <p:cNvPr id="90" name="Dot"/>
          <p:cNvSpPr/>
          <p:nvPr/>
        </p:nvSpPr>
        <p:spPr>
          <a:xfrm>
            <a:off x="5353050" y="4191000"/>
            <a:ext cx="76200" cy="76200"/>
          </a:xfrm>
          <a:prstGeom prst="ellipse">
            <a:avLst/>
          </a:prstGeom>
          <a:solidFill>
            <a:srgbClr val="00C5D6"/>
          </a:solidFill>
          <a:ln>
            <a:noFill/>
          </a:ln>
        </p:spPr>
      </p:sp>
      <p:sp>
        <p:nvSpPr>
          <p:cNvPr id="91" name="Rule"/>
          <p:cNvSpPr/>
          <p:nvPr/>
        </p:nvSpPr>
        <p:spPr>
          <a:xfrm rot="0">
            <a:off x="7200900" y="4229100"/>
            <a:ext cx="533400" cy="19050"/>
          </a:xfrm>
          <a:prstGeom prst="rect">
            <a:avLst/>
          </a:prstGeom>
          <a:noFill/>
          <a:ln w="19050">
            <a:solidFill>
              <a:srgbClr val="FFA000"/>
            </a:solidFill>
          </a:ln>
        </p:spPr>
      </p:sp>
      <p:sp>
        <p:nvSpPr>
          <p:cNvPr id="92" name="Dot"/>
          <p:cNvSpPr/>
          <p:nvPr/>
        </p:nvSpPr>
        <p:spPr>
          <a:xfrm>
            <a:off x="7696200" y="4191000"/>
            <a:ext cx="76200" cy="76200"/>
          </a:xfrm>
          <a:prstGeom prst="ellipse">
            <a:avLst/>
          </a:prstGeom>
          <a:solidFill>
            <a:srgbClr val="FFA000"/>
          </a:solidFill>
          <a:ln>
            <a:noFill/>
          </a:ln>
        </p:spPr>
      </p:sp>
      <p:sp>
        <p:nvSpPr>
          <p:cNvPr id="93" name="Rule"/>
          <p:cNvSpPr/>
          <p:nvPr/>
        </p:nvSpPr>
        <p:spPr>
          <a:xfrm rot="0">
            <a:off x="9544050" y="4229100"/>
            <a:ext cx="533400" cy="19050"/>
          </a:xfrm>
          <a:prstGeom prst="rect">
            <a:avLst/>
          </a:prstGeom>
          <a:noFill/>
          <a:ln w="19050">
            <a:solidFill>
              <a:srgbClr val="00C78B"/>
            </a:solidFill>
          </a:ln>
        </p:spPr>
      </p:sp>
      <p:sp>
        <p:nvSpPr>
          <p:cNvPr id="94" name="Dot"/>
          <p:cNvSpPr/>
          <p:nvPr/>
        </p:nvSpPr>
        <p:spPr>
          <a:xfrm>
            <a:off x="10039350" y="4191000"/>
            <a:ext cx="76200" cy="76200"/>
          </a:xfrm>
          <a:prstGeom prst="ellipse">
            <a:avLst/>
          </a:prstGeom>
          <a:solidFill>
            <a:srgbClr val="00C78B"/>
          </a:solidFill>
          <a:ln>
            <a:noFill/>
          </a:ln>
        </p:spPr>
      </p:sp>
      <p:sp>
        <p:nvSpPr>
          <p:cNvPr id="95" name="Text"/>
          <p:cNvSpPr/>
          <p:nvPr/>
        </p:nvSpPr>
        <p:spPr>
          <a:xfrm>
            <a:off x="704850" y="5286375"/>
            <a:ext cx="10477500" cy="419100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1800" b="0" i="0">
                <a:solidFill>
                  <a:srgbClr val="202124"/>
                </a:solidFill>
                <a:latin typeface="Lusitana"/>
              </a:rPr>
              <a:t>La escritura no comparte el camino de consulta: requiere artefactos, decisión humana y credenciales NEO4J_INGEST_*.</a:t>
            </a:r>
            <a:endParaRPr lang="es-PE" sz="1800"/>
          </a:p>
        </p:txBody>
      </p:sp>
      <p:sp>
        <p:nvSpPr>
          <p:cNvPr id="96" name="Rule"/>
          <p:cNvSpPr/>
          <p:nvPr/>
        </p:nvSpPr>
        <p:spPr>
          <a:xfrm rot="0">
            <a:off x="685800" y="6486525"/>
            <a:ext cx="10820400" cy="9525"/>
          </a:xfrm>
          <a:prstGeom prst="rect">
            <a:avLst/>
          </a:prstGeom>
          <a:noFill/>
          <a:ln w="9525">
            <a:solidFill>
              <a:srgbClr val="E4E4E7"/>
            </a:solidFill>
          </a:ln>
        </p:spPr>
      </p:sp>
      <p:sp>
        <p:nvSpPr>
          <p:cNvPr id="97" name="Text"/>
          <p:cNvSpPr/>
          <p:nvPr/>
        </p:nvSpPr>
        <p:spPr>
          <a:xfrm>
            <a:off x="685800" y="6553200"/>
            <a:ext cx="8191500" cy="142875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900" b="0" i="0">
                <a:solidFill>
                  <a:srgbClr val="97999B"/>
                </a:solidFill>
                <a:latin typeface="IBM Plex Mono"/>
              </a:rPr>
              <a:t>CIAR · estado técnico · 26.08.2026 · fuente: servidor.py, constructor.py, normalizador y neo4j_importacion.py</a:t>
            </a:r>
            <a:endParaRPr lang="es-PE" sz="900"/>
          </a:p>
        </p:txBody>
      </p:sp>
      <p:sp>
        <p:nvSpPr>
          <p:cNvPr id="98" name="Text"/>
          <p:cNvSpPr/>
          <p:nvPr/>
        </p:nvSpPr>
        <p:spPr>
          <a:xfrm>
            <a:off x="10763250" y="6553200"/>
            <a:ext cx="742950" cy="142875"/>
          </a:xfrm>
          <a:noFill/>
          <a:ln>
            <a:noFill/>
          </a:ln>
        </p:spPr>
        <p:txBody>
          <a:bodyPr lIns="0" tIns="0" rIns="0" bIns="0" anchor="mid"/>
          <a:lstStyle/>
          <a:p>
            <a:pPr algn="r" lvl="0">
              <a:buNone/>
            </a:pPr>
            <a:r>
              <a:rPr lang="es-PE" sz="1000" b="1" i="0">
                <a:solidFill>
                  <a:srgbClr val="FF5117"/>
                </a:solidFill>
                <a:latin typeface="Roboto"/>
              </a:rPr>
              <a:t>ULIMA</a:t>
            </a:r>
            <a:endParaRPr lang="es-PE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</a:xfrm>
        <a:prstGeom prst="rect">
          <a:avLst/>
        </a:prstGeom>
      </p:grpSpPr>
      <p:sp>
        <p:nvSpPr>
          <p:cNvPr id="99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</p:sp>
      <p:sp>
        <p:nvSpPr>
          <p:cNvPr id="100" name="Slide title"/>
          <p:cNvSpPr/>
          <p:nvPr/>
        </p:nvSpPr>
        <p:spPr>
          <a:xfrm>
            <a:off x="685800" y="533400"/>
            <a:ext cx="10477500" cy="514350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3400" b="1" i="0">
                <a:solidFill>
                  <a:srgbClr val="111111"/>
                </a:solidFill>
                <a:latin typeface="Roboto"/>
              </a:rPr>
              <a:t>El agente vigente es un flujo directo de 12 nodos lógicos</a:t>
            </a:r>
            <a:endParaRPr lang="es-PE" sz="3400"/>
          </a:p>
        </p:txBody>
      </p:sp>
      <p:sp>
        <p:nvSpPr>
          <p:cNvPr id="101" name="Text"/>
          <p:cNvSpPr/>
          <p:nvPr/>
        </p:nvSpPr>
        <p:spPr>
          <a:xfrm>
            <a:off x="704850" y="1076325"/>
            <a:ext cx="9334500" cy="247650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1500" b="0" i="0">
                <a:solidFill>
                  <a:srgbClr val="97999B"/>
                </a:solidFill>
                <a:latin typeface="Roboto"/>
              </a:rPr>
              <a:t>El routing decide el tipo de respuesta antes de consultar el grafo</a:t>
            </a:r>
            <a:endParaRPr lang="es-PE" sz="1500"/>
          </a:p>
        </p:txBody>
      </p:sp>
      <p:sp>
        <p:nvSpPr>
          <p:cNvPr id="102" name="Rule"/>
          <p:cNvSpPr/>
          <p:nvPr/>
        </p:nvSpPr>
        <p:spPr>
          <a:xfrm rot="0">
            <a:off x="685800" y="1428750"/>
            <a:ext cx="10820400" cy="9525"/>
          </a:xfrm>
          <a:prstGeom prst="rect">
            <a:avLst/>
          </a:prstGeom>
          <a:noFill/>
          <a:ln w="9525">
            <a:solidFill>
              <a:srgbClr val="E4E4E7"/>
            </a:solidFill>
          </a:ln>
        </p:spPr>
      </p:sp>
      <p:sp>
        <p:nvSpPr>
          <p:cNvPr id="103" name="Text"/>
          <p:cNvSpPr/>
          <p:nvPr/>
        </p:nvSpPr>
        <p:spPr>
          <a:xfrm>
            <a:off x="704850" y="1724025"/>
            <a:ext cx="10668000" cy="304800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2200" b="1" i="0">
                <a:solidFill>
                  <a:srgbClr val="111111"/>
                </a:solidFill>
                <a:latin typeface="Lusitana"/>
              </a:rPr>
              <a:t>Entrada → dos puertas de seguridad → routing determinista → ruta conversacional o Cypher → memoria corta</a:t>
            </a:r>
            <a:endParaRPr lang="es-PE" sz="2200"/>
          </a:p>
        </p:txBody>
      </p:sp>
      <p:sp>
        <p:nvSpPr>
          <p:cNvPr id="104" name="Architecture node"/>
          <p:cNvSpPr/>
          <p:nvPr/>
        </p:nvSpPr>
        <p:spPr>
          <a:xfrm>
            <a:off x="704850" y="2571750"/>
            <a:ext cx="1571625" cy="495300"/>
          </a:xfrm>
          <a:prstGeom prst="roundRect">
            <a:avLst/>
          </a:prstGeom>
          <a:solidFill>
            <a:srgbClr val="F1F1F3"/>
          </a:solidFill>
          <a:ln>
            <a:noFill/>
          </a:ln>
        </p:spPr>
      </p:sp>
      <p:sp>
        <p:nvSpPr>
          <p:cNvPr id="105" name="Node accent"/>
          <p:cNvSpPr/>
          <p:nvPr/>
        </p:nvSpPr>
        <p:spPr>
          <a:xfrm>
            <a:off x="704850" y="2571750"/>
            <a:ext cx="47625" cy="495300"/>
          </a:xfrm>
          <a:prstGeom prst="rect">
            <a:avLst/>
          </a:prstGeom>
          <a:solidFill>
            <a:srgbClr val="FF5117"/>
          </a:solidFill>
          <a:ln>
            <a:noFill/>
          </a:ln>
        </p:spPr>
      </p:sp>
      <p:sp>
        <p:nvSpPr>
          <p:cNvPr id="106" name="Text"/>
          <p:cNvSpPr/>
          <p:nvPr/>
        </p:nvSpPr>
        <p:spPr>
          <a:xfrm>
            <a:off x="838200" y="2590800"/>
            <a:ext cx="1362075" cy="457200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1400" b="1" i="0">
                <a:solidFill>
                  <a:srgbClr val="111111"/>
                </a:solidFill>
                <a:latin typeface="Roboto"/>
              </a:rPr>
              <a:t>Pregunta</a:t>
            </a:r>
            <a:endParaRPr lang="es-PE" sz="1400"/>
          </a:p>
        </p:txBody>
      </p:sp>
      <p:sp>
        <p:nvSpPr>
          <p:cNvPr id="107" name="Architecture node"/>
          <p:cNvSpPr/>
          <p:nvPr/>
        </p:nvSpPr>
        <p:spPr>
          <a:xfrm>
            <a:off x="2552700" y="2571750"/>
            <a:ext cx="1571625" cy="495300"/>
          </a:xfrm>
          <a:prstGeom prst="roundRect">
            <a:avLst/>
          </a:prstGeom>
          <a:solidFill>
            <a:srgbClr val="F1F1F3"/>
          </a:solidFill>
          <a:ln>
            <a:noFill/>
          </a:ln>
        </p:spPr>
      </p:sp>
      <p:sp>
        <p:nvSpPr>
          <p:cNvPr id="108" name="Node accent"/>
          <p:cNvSpPr/>
          <p:nvPr/>
        </p:nvSpPr>
        <p:spPr>
          <a:xfrm>
            <a:off x="2552700" y="2571750"/>
            <a:ext cx="47625" cy="495300"/>
          </a:xfrm>
          <a:prstGeom prst="rect">
            <a:avLst/>
          </a:prstGeom>
          <a:solidFill>
            <a:srgbClr val="D83A2E"/>
          </a:solidFill>
          <a:ln>
            <a:noFill/>
          </a:ln>
        </p:spPr>
      </p:sp>
      <p:sp>
        <p:nvSpPr>
          <p:cNvPr id="109" name="Text"/>
          <p:cNvSpPr/>
          <p:nvPr/>
        </p:nvSpPr>
        <p:spPr>
          <a:xfrm>
            <a:off x="2686050" y="2590800"/>
            <a:ext cx="1362075" cy="457200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1400" b="1" i="0">
                <a:solidFill>
                  <a:srgbClr val="111111"/>
                </a:solidFill>
                <a:latin typeface="Roboto"/>
              </a:rPr>
              <a:t>Prompt guards ×2</a:t>
            </a:r>
            <a:endParaRPr lang="es-PE" sz="1400"/>
          </a:p>
        </p:txBody>
      </p:sp>
      <p:sp>
        <p:nvSpPr>
          <p:cNvPr id="110" name="Architecture node"/>
          <p:cNvSpPr/>
          <p:nvPr/>
        </p:nvSpPr>
        <p:spPr>
          <a:xfrm>
            <a:off x="4400550" y="2571750"/>
            <a:ext cx="1571625" cy="495300"/>
          </a:xfrm>
          <a:prstGeom prst="roundRect">
            <a:avLst/>
          </a:prstGeom>
          <a:solidFill>
            <a:srgbClr val="111111"/>
          </a:solidFill>
          <a:ln>
            <a:noFill/>
          </a:ln>
        </p:spPr>
      </p:sp>
      <p:sp>
        <p:nvSpPr>
          <p:cNvPr id="111" name="Node accent"/>
          <p:cNvSpPr/>
          <p:nvPr/>
        </p:nvSpPr>
        <p:spPr>
          <a:xfrm>
            <a:off x="4400550" y="2571750"/>
            <a:ext cx="47625" cy="495300"/>
          </a:xfrm>
          <a:prstGeom prst="rect">
            <a:avLst/>
          </a:prstGeom>
          <a:solidFill>
            <a:srgbClr val="FF5117"/>
          </a:solidFill>
          <a:ln>
            <a:noFill/>
          </a:ln>
        </p:spPr>
      </p:sp>
      <p:sp>
        <p:nvSpPr>
          <p:cNvPr id="112" name="Text"/>
          <p:cNvSpPr/>
          <p:nvPr/>
        </p:nvSpPr>
        <p:spPr>
          <a:xfrm>
            <a:off x="4533900" y="2590800"/>
            <a:ext cx="1362075" cy="457200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1400" b="1" i="0">
                <a:solidFill>
                  <a:srgbClr val="FAFAFA"/>
                </a:solidFill>
                <a:latin typeface="Roboto"/>
              </a:rPr>
              <a:t>Orquestador</a:t>
            </a:r>
            <a:endParaRPr lang="es-PE" sz="1400"/>
          </a:p>
        </p:txBody>
      </p:sp>
      <p:sp>
        <p:nvSpPr>
          <p:cNvPr id="113" name="Architecture node"/>
          <p:cNvSpPr/>
          <p:nvPr/>
        </p:nvSpPr>
        <p:spPr>
          <a:xfrm>
            <a:off x="6629400" y="2152650"/>
            <a:ext cx="1714500" cy="495300"/>
          </a:xfrm>
          <a:prstGeom prst="roundRect">
            <a:avLst/>
          </a:prstGeom>
          <a:solidFill>
            <a:srgbClr val="F1F1F3"/>
          </a:solidFill>
          <a:ln>
            <a:noFill/>
          </a:ln>
        </p:spPr>
      </p:sp>
      <p:sp>
        <p:nvSpPr>
          <p:cNvPr id="114" name="Node accent"/>
          <p:cNvSpPr/>
          <p:nvPr/>
        </p:nvSpPr>
        <p:spPr>
          <a:xfrm>
            <a:off x="6629400" y="2152650"/>
            <a:ext cx="47625" cy="495300"/>
          </a:xfrm>
          <a:prstGeom prst="rect">
            <a:avLst/>
          </a:prstGeom>
          <a:solidFill>
            <a:srgbClr val="00C5D6"/>
          </a:solidFill>
          <a:ln>
            <a:noFill/>
          </a:ln>
        </p:spPr>
      </p:sp>
      <p:sp>
        <p:nvSpPr>
          <p:cNvPr id="115" name="Text"/>
          <p:cNvSpPr/>
          <p:nvPr/>
        </p:nvSpPr>
        <p:spPr>
          <a:xfrm>
            <a:off x="6762750" y="2171700"/>
            <a:ext cx="1504950" cy="457200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1400" b="1" i="0">
                <a:solidFill>
                  <a:srgbClr val="111111"/>
                </a:solidFill>
                <a:latin typeface="Roboto"/>
              </a:rPr>
              <a:t>Conversación</a:t>
            </a:r>
            <a:endParaRPr lang="es-PE" sz="1400"/>
          </a:p>
        </p:txBody>
      </p:sp>
      <p:sp>
        <p:nvSpPr>
          <p:cNvPr id="116" name="Architecture node"/>
          <p:cNvSpPr/>
          <p:nvPr/>
        </p:nvSpPr>
        <p:spPr>
          <a:xfrm>
            <a:off x="6629400" y="2990850"/>
            <a:ext cx="1714500" cy="495300"/>
          </a:xfrm>
          <a:prstGeom prst="roundRect">
            <a:avLst/>
          </a:prstGeom>
          <a:solidFill>
            <a:srgbClr val="F1F1F3"/>
          </a:solidFill>
          <a:ln>
            <a:noFill/>
          </a:ln>
        </p:spPr>
      </p:sp>
      <p:sp>
        <p:nvSpPr>
          <p:cNvPr id="117" name="Node accent"/>
          <p:cNvSpPr/>
          <p:nvPr/>
        </p:nvSpPr>
        <p:spPr>
          <a:xfrm>
            <a:off x="6629400" y="2990850"/>
            <a:ext cx="47625" cy="495300"/>
          </a:xfrm>
          <a:prstGeom prst="rect">
            <a:avLst/>
          </a:prstGeom>
          <a:solidFill>
            <a:srgbClr val="00C78B"/>
          </a:solidFill>
          <a:ln>
            <a:noFill/>
          </a:ln>
        </p:spPr>
      </p:sp>
      <p:sp>
        <p:nvSpPr>
          <p:cNvPr id="118" name="Text"/>
          <p:cNvSpPr/>
          <p:nvPr/>
        </p:nvSpPr>
        <p:spPr>
          <a:xfrm>
            <a:off x="6762750" y="3009900"/>
            <a:ext cx="1504950" cy="457200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1400" b="1" i="0">
                <a:solidFill>
                  <a:srgbClr val="111111"/>
                </a:solidFill>
                <a:latin typeface="Roboto"/>
              </a:rPr>
              <a:t>Cypher</a:t>
            </a:r>
            <a:endParaRPr lang="es-PE" sz="1400"/>
          </a:p>
        </p:txBody>
      </p:sp>
      <p:sp>
        <p:nvSpPr>
          <p:cNvPr id="119" name="Architecture node"/>
          <p:cNvSpPr/>
          <p:nvPr/>
        </p:nvSpPr>
        <p:spPr>
          <a:xfrm>
            <a:off x="8905875" y="2990850"/>
            <a:ext cx="1714500" cy="495300"/>
          </a:xfrm>
          <a:prstGeom prst="roundRect">
            <a:avLst/>
          </a:prstGeom>
          <a:solidFill>
            <a:srgbClr val="111111"/>
          </a:solidFill>
          <a:ln>
            <a:noFill/>
          </a:ln>
        </p:spPr>
      </p:sp>
      <p:sp>
        <p:nvSpPr>
          <p:cNvPr id="120" name="Node accent"/>
          <p:cNvSpPr/>
          <p:nvPr/>
        </p:nvSpPr>
        <p:spPr>
          <a:xfrm>
            <a:off x="8905875" y="2990850"/>
            <a:ext cx="47625" cy="495300"/>
          </a:xfrm>
          <a:prstGeom prst="rect">
            <a:avLst/>
          </a:prstGeom>
          <a:solidFill>
            <a:srgbClr val="00C78B"/>
          </a:solidFill>
          <a:ln>
            <a:noFill/>
          </a:ln>
        </p:spPr>
      </p:sp>
      <p:sp>
        <p:nvSpPr>
          <p:cNvPr id="121" name="Text"/>
          <p:cNvSpPr/>
          <p:nvPr/>
        </p:nvSpPr>
        <p:spPr>
          <a:xfrm>
            <a:off x="9039225" y="3009900"/>
            <a:ext cx="1504950" cy="457200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1400" b="1" i="0">
                <a:solidFill>
                  <a:srgbClr val="FAFAFA"/>
                </a:solidFill>
                <a:latin typeface="Roboto"/>
              </a:rPr>
              <a:t>Respuesta</a:t>
            </a:r>
            <a:endParaRPr lang="es-PE" sz="1400"/>
          </a:p>
        </p:txBody>
      </p:sp>
      <p:sp>
        <p:nvSpPr>
          <p:cNvPr id="122" name="Architecture node"/>
          <p:cNvSpPr/>
          <p:nvPr/>
        </p:nvSpPr>
        <p:spPr>
          <a:xfrm>
            <a:off x="8905875" y="2152650"/>
            <a:ext cx="1714500" cy="495300"/>
          </a:xfrm>
          <a:prstGeom prst="roundRect">
            <a:avLst/>
          </a:prstGeom>
          <a:solidFill>
            <a:srgbClr val="111111"/>
          </a:solidFill>
          <a:ln>
            <a:noFill/>
          </a:ln>
        </p:spPr>
      </p:sp>
      <p:sp>
        <p:nvSpPr>
          <p:cNvPr id="123" name="Node accent"/>
          <p:cNvSpPr/>
          <p:nvPr/>
        </p:nvSpPr>
        <p:spPr>
          <a:xfrm>
            <a:off x="8905875" y="2152650"/>
            <a:ext cx="47625" cy="495300"/>
          </a:xfrm>
          <a:prstGeom prst="rect">
            <a:avLst/>
          </a:prstGeom>
          <a:solidFill>
            <a:srgbClr val="00C5D6"/>
          </a:solidFill>
          <a:ln>
            <a:noFill/>
          </a:ln>
        </p:spPr>
      </p:sp>
      <p:sp>
        <p:nvSpPr>
          <p:cNvPr id="124" name="Text"/>
          <p:cNvSpPr/>
          <p:nvPr/>
        </p:nvSpPr>
        <p:spPr>
          <a:xfrm>
            <a:off x="9039225" y="2171700"/>
            <a:ext cx="1504950" cy="457200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1400" b="1" i="0">
                <a:solidFill>
                  <a:srgbClr val="FAFAFA"/>
                </a:solidFill>
                <a:latin typeface="Roboto"/>
              </a:rPr>
              <a:t>Respuesta directa</a:t>
            </a:r>
            <a:endParaRPr lang="es-PE" sz="1400"/>
          </a:p>
        </p:txBody>
      </p:sp>
      <p:sp>
        <p:nvSpPr>
          <p:cNvPr id="125" name="Architecture node"/>
          <p:cNvSpPr/>
          <p:nvPr/>
        </p:nvSpPr>
        <p:spPr>
          <a:xfrm>
            <a:off x="10915650" y="2571750"/>
            <a:ext cx="685800" cy="495300"/>
          </a:xfrm>
          <a:prstGeom prst="roundRect">
            <a:avLst/>
          </a:prstGeom>
          <a:solidFill>
            <a:srgbClr val="F1F1F3"/>
          </a:solidFill>
          <a:ln>
            <a:noFill/>
          </a:ln>
        </p:spPr>
      </p:sp>
      <p:sp>
        <p:nvSpPr>
          <p:cNvPr id="126" name="Node accent"/>
          <p:cNvSpPr/>
          <p:nvPr/>
        </p:nvSpPr>
        <p:spPr>
          <a:xfrm>
            <a:off x="10915650" y="2571750"/>
            <a:ext cx="47625" cy="495300"/>
          </a:xfrm>
          <a:prstGeom prst="rect">
            <a:avLst/>
          </a:prstGeom>
          <a:solidFill>
            <a:srgbClr val="FFA000"/>
          </a:solidFill>
          <a:ln>
            <a:noFill/>
          </a:ln>
        </p:spPr>
      </p:sp>
      <p:sp>
        <p:nvSpPr>
          <p:cNvPr id="127" name="Text"/>
          <p:cNvSpPr/>
          <p:nvPr/>
        </p:nvSpPr>
        <p:spPr>
          <a:xfrm>
            <a:off x="11049000" y="2590800"/>
            <a:ext cx="476250" cy="457200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1400" b="1" i="0">
                <a:solidFill>
                  <a:srgbClr val="111111"/>
                </a:solidFill>
                <a:latin typeface="Roboto"/>
              </a:rPr>
              <a:t>Memoria</a:t>
            </a:r>
            <a:endParaRPr lang="es-PE" sz="1400"/>
          </a:p>
        </p:txBody>
      </p:sp>
      <p:sp>
        <p:nvSpPr>
          <p:cNvPr id="128" name="Rule"/>
          <p:cNvSpPr/>
          <p:nvPr/>
        </p:nvSpPr>
        <p:spPr>
          <a:xfrm rot="0">
            <a:off x="2276475" y="2819400"/>
            <a:ext cx="276225" cy="19050"/>
          </a:xfrm>
          <a:prstGeom prst="rect">
            <a:avLst/>
          </a:prstGeom>
          <a:noFill/>
          <a:ln w="19050">
            <a:solidFill>
              <a:srgbClr val="97999B"/>
            </a:solidFill>
          </a:ln>
        </p:spPr>
      </p:sp>
      <p:sp>
        <p:nvSpPr>
          <p:cNvPr id="129" name="Dot"/>
          <p:cNvSpPr/>
          <p:nvPr/>
        </p:nvSpPr>
        <p:spPr>
          <a:xfrm>
            <a:off x="2514600" y="2781300"/>
            <a:ext cx="76200" cy="76200"/>
          </a:xfrm>
          <a:prstGeom prst="ellipse">
            <a:avLst/>
          </a:prstGeom>
          <a:solidFill>
            <a:srgbClr val="97999B"/>
          </a:solidFill>
          <a:ln>
            <a:noFill/>
          </a:ln>
        </p:spPr>
      </p:sp>
      <p:sp>
        <p:nvSpPr>
          <p:cNvPr id="130" name="Rule"/>
          <p:cNvSpPr/>
          <p:nvPr/>
        </p:nvSpPr>
        <p:spPr>
          <a:xfrm rot="0">
            <a:off x="4124325" y="2819400"/>
            <a:ext cx="276225" cy="19050"/>
          </a:xfrm>
          <a:prstGeom prst="rect">
            <a:avLst/>
          </a:prstGeom>
          <a:noFill/>
          <a:ln w="19050">
            <a:solidFill>
              <a:srgbClr val="97999B"/>
            </a:solidFill>
          </a:ln>
        </p:spPr>
      </p:sp>
      <p:sp>
        <p:nvSpPr>
          <p:cNvPr id="131" name="Dot"/>
          <p:cNvSpPr/>
          <p:nvPr/>
        </p:nvSpPr>
        <p:spPr>
          <a:xfrm>
            <a:off x="4362450" y="2781300"/>
            <a:ext cx="76200" cy="76200"/>
          </a:xfrm>
          <a:prstGeom prst="ellipse">
            <a:avLst/>
          </a:prstGeom>
          <a:solidFill>
            <a:srgbClr val="97999B"/>
          </a:solidFill>
          <a:ln>
            <a:noFill/>
          </a:ln>
        </p:spPr>
      </p:sp>
      <p:sp>
        <p:nvSpPr>
          <p:cNvPr id="132" name="Rule"/>
          <p:cNvSpPr/>
          <p:nvPr/>
        </p:nvSpPr>
        <p:spPr>
          <a:xfrm rot="-1951493">
            <a:off x="5972175" y="2819400"/>
            <a:ext cx="779480" cy="19050"/>
          </a:xfrm>
          <a:prstGeom prst="rect">
            <a:avLst/>
          </a:prstGeom>
          <a:noFill/>
          <a:ln w="19050">
            <a:solidFill>
              <a:srgbClr val="97999B"/>
            </a:solidFill>
          </a:ln>
        </p:spPr>
      </p:sp>
      <p:sp>
        <p:nvSpPr>
          <p:cNvPr id="133" name="Dot"/>
          <p:cNvSpPr/>
          <p:nvPr/>
        </p:nvSpPr>
        <p:spPr>
          <a:xfrm>
            <a:off x="6591300" y="2362200"/>
            <a:ext cx="76200" cy="76200"/>
          </a:xfrm>
          <a:prstGeom prst="ellipse">
            <a:avLst/>
          </a:prstGeom>
          <a:solidFill>
            <a:srgbClr val="97999B"/>
          </a:solidFill>
          <a:ln>
            <a:noFill/>
          </a:ln>
        </p:spPr>
      </p:sp>
      <p:sp>
        <p:nvSpPr>
          <p:cNvPr id="134" name="Rule"/>
          <p:cNvSpPr/>
          <p:nvPr/>
        </p:nvSpPr>
        <p:spPr>
          <a:xfrm rot="1951493">
            <a:off x="5972175" y="2819400"/>
            <a:ext cx="779480" cy="19050"/>
          </a:xfrm>
          <a:prstGeom prst="rect">
            <a:avLst/>
          </a:prstGeom>
          <a:noFill/>
          <a:ln w="19050">
            <a:solidFill>
              <a:srgbClr val="97999B"/>
            </a:solidFill>
          </a:ln>
        </p:spPr>
      </p:sp>
      <p:sp>
        <p:nvSpPr>
          <p:cNvPr id="135" name="Dot"/>
          <p:cNvSpPr/>
          <p:nvPr/>
        </p:nvSpPr>
        <p:spPr>
          <a:xfrm>
            <a:off x="6591300" y="3200400"/>
            <a:ext cx="76200" cy="76200"/>
          </a:xfrm>
          <a:prstGeom prst="ellipse">
            <a:avLst/>
          </a:prstGeom>
          <a:solidFill>
            <a:srgbClr val="97999B"/>
          </a:solidFill>
          <a:ln>
            <a:noFill/>
          </a:ln>
        </p:spPr>
      </p:sp>
      <p:sp>
        <p:nvSpPr>
          <p:cNvPr id="136" name="Rule"/>
          <p:cNvSpPr/>
          <p:nvPr/>
        </p:nvSpPr>
        <p:spPr>
          <a:xfrm rot="0">
            <a:off x="8343900" y="2400300"/>
            <a:ext cx="561975" cy="19050"/>
          </a:xfrm>
          <a:prstGeom prst="rect">
            <a:avLst/>
          </a:prstGeom>
          <a:noFill/>
          <a:ln w="19050">
            <a:solidFill>
              <a:srgbClr val="00C5D6"/>
            </a:solidFill>
          </a:ln>
        </p:spPr>
      </p:sp>
      <p:sp>
        <p:nvSpPr>
          <p:cNvPr id="137" name="Dot"/>
          <p:cNvSpPr/>
          <p:nvPr/>
        </p:nvSpPr>
        <p:spPr>
          <a:xfrm>
            <a:off x="8867775" y="2362200"/>
            <a:ext cx="76200" cy="76200"/>
          </a:xfrm>
          <a:prstGeom prst="ellipse">
            <a:avLst/>
          </a:prstGeom>
          <a:solidFill>
            <a:srgbClr val="00C5D6"/>
          </a:solidFill>
          <a:ln>
            <a:noFill/>
          </a:ln>
        </p:spPr>
      </p:sp>
      <p:sp>
        <p:nvSpPr>
          <p:cNvPr id="138" name="Rule"/>
          <p:cNvSpPr/>
          <p:nvPr/>
        </p:nvSpPr>
        <p:spPr>
          <a:xfrm rot="0">
            <a:off x="8343900" y="3238500"/>
            <a:ext cx="561975" cy="19050"/>
          </a:xfrm>
          <a:prstGeom prst="rect">
            <a:avLst/>
          </a:prstGeom>
          <a:noFill/>
          <a:ln w="19050">
            <a:solidFill>
              <a:srgbClr val="00C78B"/>
            </a:solidFill>
          </a:ln>
        </p:spPr>
      </p:sp>
      <p:sp>
        <p:nvSpPr>
          <p:cNvPr id="139" name="Dot"/>
          <p:cNvSpPr/>
          <p:nvPr/>
        </p:nvSpPr>
        <p:spPr>
          <a:xfrm>
            <a:off x="8867775" y="3200400"/>
            <a:ext cx="76200" cy="76200"/>
          </a:xfrm>
          <a:prstGeom prst="ellipse">
            <a:avLst/>
          </a:prstGeom>
          <a:solidFill>
            <a:srgbClr val="00C78B"/>
          </a:solidFill>
          <a:ln>
            <a:noFill/>
          </a:ln>
        </p:spPr>
      </p:sp>
      <p:sp>
        <p:nvSpPr>
          <p:cNvPr id="140" name="Rule"/>
          <p:cNvSpPr/>
          <p:nvPr/>
        </p:nvSpPr>
        <p:spPr>
          <a:xfrm rot="3290014">
            <a:off x="10620375" y="2400300"/>
            <a:ext cx="512672" cy="19050"/>
          </a:xfrm>
          <a:prstGeom prst="rect">
            <a:avLst/>
          </a:prstGeom>
          <a:noFill/>
          <a:ln w="19050">
            <a:solidFill>
              <a:srgbClr val="97999B"/>
            </a:solidFill>
          </a:ln>
        </p:spPr>
      </p:sp>
      <p:sp>
        <p:nvSpPr>
          <p:cNvPr id="141" name="Dot"/>
          <p:cNvSpPr/>
          <p:nvPr/>
        </p:nvSpPr>
        <p:spPr>
          <a:xfrm>
            <a:off x="10877550" y="2781300"/>
            <a:ext cx="76200" cy="76200"/>
          </a:xfrm>
          <a:prstGeom prst="ellipse">
            <a:avLst/>
          </a:prstGeom>
          <a:solidFill>
            <a:srgbClr val="97999B"/>
          </a:solidFill>
          <a:ln>
            <a:noFill/>
          </a:ln>
        </p:spPr>
      </p:sp>
      <p:sp>
        <p:nvSpPr>
          <p:cNvPr id="142" name="Rule"/>
          <p:cNvSpPr/>
          <p:nvPr/>
        </p:nvSpPr>
        <p:spPr>
          <a:xfrm rot="-3290014">
            <a:off x="10620375" y="3238500"/>
            <a:ext cx="512672" cy="19050"/>
          </a:xfrm>
          <a:prstGeom prst="rect">
            <a:avLst/>
          </a:prstGeom>
          <a:noFill/>
          <a:ln w="19050">
            <a:solidFill>
              <a:srgbClr val="97999B"/>
            </a:solidFill>
          </a:ln>
        </p:spPr>
      </p:sp>
      <p:sp>
        <p:nvSpPr>
          <p:cNvPr id="143" name="Dot"/>
          <p:cNvSpPr/>
          <p:nvPr/>
        </p:nvSpPr>
        <p:spPr>
          <a:xfrm>
            <a:off x="10877550" y="2781300"/>
            <a:ext cx="76200" cy="76200"/>
          </a:xfrm>
          <a:prstGeom prst="ellipse">
            <a:avLst/>
          </a:prstGeom>
          <a:solidFill>
            <a:srgbClr val="97999B"/>
          </a:solidFill>
          <a:ln>
            <a:noFill/>
          </a:ln>
        </p:spPr>
      </p:sp>
      <p:sp>
        <p:nvSpPr>
          <p:cNvPr id="144" name="Text"/>
          <p:cNvSpPr/>
          <p:nvPr/>
        </p:nvSpPr>
        <p:spPr>
          <a:xfrm>
            <a:off x="714375" y="4286250"/>
            <a:ext cx="4762500" cy="933450"/>
          </a:xfrm>
          <a:noFill/>
          <a:ln>
            <a:noFill/>
          </a:ln>
        </p:spPr>
        <p:txBody>
          <a:bodyPr lIns="0" tIns="0" rIns="0" bIns="0" anchor="top"/>
          <a:lstStyle/>
          <a:p>
            <a:pPr algn="l" lvl="0">
              <a:buNone/>
            </a:pPr>
            <a:r>
              <a:rPr lang="es-PE" sz="1700" b="0" i="0">
                <a:solidFill>
                  <a:srgbClr val="202124"/>
                </a:solidFill>
                <a:latin typeface="Roboto"/>
              </a:rPr>
              <a:t>No es el antiguo camino de 20 plantillas + planificador.</a:t>
            </a:r>
            <a:endParaRPr lang="es-PE" sz="1700"/>
          </a:p>
          <a:p>
            <a:pPr algn="l" lvl="0">
              <a:buNone/>
            </a:pPr>
            <a:r>
              <a:rPr lang="es-PE" sz="1700" b="0" i="0">
                <a:solidFill>
                  <a:srgbClr val="202124"/>
                </a:solidFill>
                <a:latin typeface="Roboto"/>
              </a:rPr>
              <a:t/>
            </a:r>
            <a:endParaRPr lang="es-PE" sz="1700"/>
          </a:p>
          <a:p>
            <a:pPr algn="l" lvl="0">
              <a:buNone/>
            </a:pPr>
            <a:r>
              <a:rPr lang="es-PE" sz="1700" b="0" i="0">
                <a:solidFill>
                  <a:srgbClr val="202124"/>
                </a:solidFill>
                <a:latin typeface="Roboto"/>
              </a:rPr>
              <a:t>Esos módulos aparecen en documentación o tests históricos, pero no se registran en el constructor activo.</a:t>
            </a:r>
            <a:endParaRPr lang="es-PE" sz="1700"/>
          </a:p>
        </p:txBody>
      </p:sp>
      <p:sp>
        <p:nvSpPr>
          <p:cNvPr id="145" name="Card"/>
          <p:cNvSpPr/>
          <p:nvPr/>
        </p:nvSpPr>
        <p:spPr>
          <a:xfrm>
            <a:off x="6572250" y="4305300"/>
            <a:ext cx="4619625" cy="971550"/>
          </a:xfrm>
          <a:prstGeom prst="roundRect">
            <a:avLst/>
          </a:prstGeom>
          <a:solidFill>
            <a:srgbClr val="F1F1F3"/>
          </a:solidFill>
          <a:ln>
            <a:noFill/>
          </a:ln>
        </p:spPr>
      </p:sp>
      <p:sp>
        <p:nvSpPr>
          <p:cNvPr id="146" name="Accent"/>
          <p:cNvSpPr/>
          <p:nvPr/>
        </p:nvSpPr>
        <p:spPr>
          <a:xfrm>
            <a:off x="6572250" y="4305300"/>
            <a:ext cx="57150" cy="971550"/>
          </a:xfrm>
          <a:prstGeom prst="rect">
            <a:avLst/>
          </a:prstGeom>
          <a:solidFill>
            <a:srgbClr val="FFA000"/>
          </a:solidFill>
          <a:ln>
            <a:noFill/>
          </a:ln>
        </p:spPr>
      </p:sp>
      <p:sp>
        <p:nvSpPr>
          <p:cNvPr id="147" name="Text"/>
          <p:cNvSpPr/>
          <p:nvPr/>
        </p:nvSpPr>
        <p:spPr>
          <a:xfrm>
            <a:off x="6781800" y="4476750"/>
            <a:ext cx="4219575" cy="161925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1100" b="1" i="0">
                <a:solidFill>
                  <a:srgbClr val="FFA000"/>
                </a:solidFill>
                <a:latin typeface="IBM Plex Mono"/>
              </a:rPr>
              <a:t>ESTADO</a:t>
            </a:r>
            <a:endParaRPr lang="es-PE" sz="1100"/>
          </a:p>
        </p:txBody>
      </p:sp>
      <p:sp>
        <p:nvSpPr>
          <p:cNvPr id="148" name="Text"/>
          <p:cNvSpPr/>
          <p:nvPr/>
        </p:nvSpPr>
        <p:spPr>
          <a:xfrm>
            <a:off x="6781800" y="4714875"/>
            <a:ext cx="4219575" cy="314325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2100" b="1" i="0">
                <a:solidFill>
                  <a:srgbClr val="111111"/>
                </a:solidFill>
                <a:latin typeface="Roboto"/>
              </a:rPr>
              <a:t>Memoria corta local</a:t>
            </a:r>
            <a:endParaRPr lang="es-PE" sz="2100"/>
          </a:p>
        </p:txBody>
      </p:sp>
      <p:sp>
        <p:nvSpPr>
          <p:cNvPr id="149" name="Text"/>
          <p:cNvSpPr/>
          <p:nvPr/>
        </p:nvSpPr>
        <p:spPr>
          <a:xfrm>
            <a:off x="6781800" y="5124450"/>
            <a:ext cx="4219575" cy="-9525"/>
          </a:xfrm>
          <a:noFill/>
          <a:ln>
            <a:noFill/>
          </a:ln>
        </p:spPr>
        <p:txBody>
          <a:bodyPr lIns="0" tIns="0" rIns="0" bIns="0" anchor="top"/>
          <a:lstStyle/>
          <a:p>
            <a:pPr algn="l" lvl="0">
              <a:buNone/>
            </a:pPr>
            <a:r>
              <a:rPr lang="es-PE" sz="1500" b="0" i="0">
                <a:solidFill>
                  <a:srgbClr val="202124"/>
                </a:solidFill>
                <a:latin typeface="Roboto"/>
              </a:rPr>
              <a:t>TTL 30 min · 4 turnos/scope · sin checkpointer durable.</a:t>
            </a:r>
            <a:endParaRPr lang="es-PE" sz="1500"/>
          </a:p>
        </p:txBody>
      </p:sp>
      <p:sp>
        <p:nvSpPr>
          <p:cNvPr id="150" name="Rule"/>
          <p:cNvSpPr/>
          <p:nvPr/>
        </p:nvSpPr>
        <p:spPr>
          <a:xfrm rot="0">
            <a:off x="685800" y="6486525"/>
            <a:ext cx="10820400" cy="9525"/>
          </a:xfrm>
          <a:prstGeom prst="rect">
            <a:avLst/>
          </a:prstGeom>
          <a:noFill/>
          <a:ln w="9525">
            <a:solidFill>
              <a:srgbClr val="E4E4E7"/>
            </a:solidFill>
          </a:ln>
        </p:spPr>
      </p:sp>
      <p:sp>
        <p:nvSpPr>
          <p:cNvPr id="151" name="Text"/>
          <p:cNvSpPr/>
          <p:nvPr/>
        </p:nvSpPr>
        <p:spPr>
          <a:xfrm>
            <a:off x="685800" y="6553200"/>
            <a:ext cx="8191500" cy="142875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900" b="0" i="0">
                <a:solidFill>
                  <a:srgbClr val="97999B"/>
                </a:solidFill>
                <a:latin typeface="IBM Plex Mono"/>
              </a:rPr>
              <a:t>CIAR · estado técnico · 26.08.2026 · fuente: agente/grafo/constructor.py, orquestador.py, memoria_corta.py</a:t>
            </a:r>
            <a:endParaRPr lang="es-PE" sz="900"/>
          </a:p>
        </p:txBody>
      </p:sp>
      <p:sp>
        <p:nvSpPr>
          <p:cNvPr id="152" name="Text"/>
          <p:cNvSpPr/>
          <p:nvPr/>
        </p:nvSpPr>
        <p:spPr>
          <a:xfrm>
            <a:off x="10763250" y="6553200"/>
            <a:ext cx="742950" cy="142875"/>
          </a:xfrm>
          <a:noFill/>
          <a:ln>
            <a:noFill/>
          </a:ln>
        </p:spPr>
        <p:txBody>
          <a:bodyPr lIns="0" tIns="0" rIns="0" bIns="0" anchor="mid"/>
          <a:lstStyle/>
          <a:p>
            <a:pPr algn="r" lvl="0">
              <a:buNone/>
            </a:pPr>
            <a:r>
              <a:rPr lang="es-PE" sz="1000" b="1" i="0">
                <a:solidFill>
                  <a:srgbClr val="FF5117"/>
                </a:solidFill>
                <a:latin typeface="Roboto"/>
              </a:rPr>
              <a:t>ULIMA</a:t>
            </a:r>
            <a:endParaRPr lang="es-PE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</a:xfrm>
        <a:prstGeom prst="rect">
          <a:avLst/>
        </a:prstGeom>
      </p:grpSpPr>
      <p:sp>
        <p:nvSpPr>
          <p:cNvPr id="153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</p:sp>
      <p:sp>
        <p:nvSpPr>
          <p:cNvPr id="154" name="Slide title"/>
          <p:cNvSpPr/>
          <p:nvPr/>
        </p:nvSpPr>
        <p:spPr>
          <a:xfrm>
            <a:off x="685800" y="533400"/>
            <a:ext cx="10477500" cy="514350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3400" b="1" i="0">
                <a:solidFill>
                  <a:srgbClr val="111111"/>
                </a:solidFill>
                <a:latin typeface="Roboto"/>
              </a:rPr>
              <a:t>La confianza se construye en cadena, no en un único prompt</a:t>
            </a:r>
            <a:endParaRPr lang="es-PE" sz="3400"/>
          </a:p>
        </p:txBody>
      </p:sp>
      <p:sp>
        <p:nvSpPr>
          <p:cNvPr id="155" name="Text"/>
          <p:cNvSpPr/>
          <p:nvPr/>
        </p:nvSpPr>
        <p:spPr>
          <a:xfrm>
            <a:off x="704850" y="1076325"/>
            <a:ext cx="9334500" cy="247650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1500" b="0" i="0">
                <a:solidFill>
                  <a:srgbClr val="97999B"/>
                </a:solidFill>
                <a:latin typeface="Roboto"/>
              </a:rPr>
              <a:t>Cada etapa reduce el espacio de comportamiento permitido</a:t>
            </a:r>
            <a:endParaRPr lang="es-PE" sz="1500"/>
          </a:p>
        </p:txBody>
      </p:sp>
      <p:sp>
        <p:nvSpPr>
          <p:cNvPr id="156" name="Rule"/>
          <p:cNvSpPr/>
          <p:nvPr/>
        </p:nvSpPr>
        <p:spPr>
          <a:xfrm rot="0">
            <a:off x="685800" y="1428750"/>
            <a:ext cx="10820400" cy="9525"/>
          </a:xfrm>
          <a:prstGeom prst="rect">
            <a:avLst/>
          </a:prstGeom>
          <a:noFill/>
          <a:ln w="9525">
            <a:solidFill>
              <a:srgbClr val="E4E4E7"/>
            </a:solidFill>
          </a:ln>
        </p:spPr>
      </p:sp>
      <p:sp>
        <p:nvSpPr>
          <p:cNvPr id="157" name="Text"/>
          <p:cNvSpPr/>
          <p:nvPr/>
        </p:nvSpPr>
        <p:spPr>
          <a:xfrm>
            <a:off x="714375" y="1724025"/>
            <a:ext cx="10763250" cy="314325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2300" b="1" i="0">
                <a:solidFill>
                  <a:srgbClr val="111111"/>
                </a:solidFill>
                <a:latin typeface="Lusitana"/>
              </a:rPr>
              <a:t>Una pregunta de datos solo alcanza Neo4j cuando supera cinco controles encadenados.</a:t>
            </a:r>
            <a:endParaRPr lang="es-PE" sz="2300"/>
          </a:p>
        </p:txBody>
      </p:sp>
      <p:sp>
        <p:nvSpPr>
          <p:cNvPr id="158" name="Dot"/>
          <p:cNvSpPr/>
          <p:nvPr/>
        </p:nvSpPr>
        <p:spPr>
          <a:xfrm>
            <a:off x="742950" y="2543175"/>
            <a:ext cx="457200" cy="457200"/>
          </a:xfrm>
          <a:prstGeom prst="ellipse">
            <a:avLst/>
          </a:prstGeom>
          <a:solidFill>
            <a:srgbClr val="FF5117"/>
          </a:solidFill>
          <a:ln>
            <a:noFill/>
          </a:ln>
        </p:spPr>
      </p:sp>
      <p:sp>
        <p:nvSpPr>
          <p:cNvPr id="159" name="Text"/>
          <p:cNvSpPr/>
          <p:nvPr/>
        </p:nvSpPr>
        <p:spPr>
          <a:xfrm>
            <a:off x="781050" y="2600325"/>
            <a:ext cx="381000" cy="285750"/>
          </a:xfrm>
          <a:noFill/>
          <a:ln>
            <a:noFill/>
          </a:ln>
        </p:spPr>
        <p:txBody>
          <a:bodyPr lIns="0" tIns="0" rIns="0" bIns="0" anchor="mid"/>
          <a:lstStyle/>
          <a:p>
            <a:pPr algn="c" lvl="0">
              <a:buNone/>
            </a:pPr>
            <a:r>
              <a:rPr lang="es-PE" sz="1200" b="1" i="0">
                <a:solidFill>
                  <a:srgbClr val="FAFAFA"/>
                </a:solidFill>
                <a:latin typeface="IBM Plex Mono"/>
              </a:rPr>
              <a:t>01</a:t>
            </a:r>
            <a:endParaRPr lang="es-PE" sz="1200"/>
          </a:p>
        </p:txBody>
      </p:sp>
      <p:sp>
        <p:nvSpPr>
          <p:cNvPr id="160" name="Text"/>
          <p:cNvSpPr/>
          <p:nvPr/>
        </p:nvSpPr>
        <p:spPr>
          <a:xfrm>
            <a:off x="1428750" y="2533650"/>
            <a:ext cx="2190750" cy="285750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1900" b="1" i="0">
                <a:solidFill>
                  <a:srgbClr val="111111"/>
                </a:solidFill>
                <a:latin typeface="Roboto"/>
              </a:rPr>
              <a:t>Schema vivo</a:t>
            </a:r>
            <a:endParaRPr lang="es-PE" sz="1900"/>
          </a:p>
        </p:txBody>
      </p:sp>
      <p:sp>
        <p:nvSpPr>
          <p:cNvPr id="161" name="Text"/>
          <p:cNvSpPr/>
          <p:nvPr/>
        </p:nvSpPr>
        <p:spPr>
          <a:xfrm>
            <a:off x="3714750" y="2533650"/>
            <a:ext cx="7239000" cy="438150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1600" b="0" i="0">
                <a:solidFill>
                  <a:srgbClr val="202124"/>
                </a:solidFill>
                <a:latin typeface="Roboto"/>
              </a:rPr>
              <a:t>Neo4j define etiquetas, propiedades y relaciones; el snapshot se cachea con TTL.</a:t>
            </a:r>
            <a:endParaRPr lang="es-PE" sz="1600"/>
          </a:p>
        </p:txBody>
      </p:sp>
      <p:sp>
        <p:nvSpPr>
          <p:cNvPr id="162" name="Rule"/>
          <p:cNvSpPr/>
          <p:nvPr/>
        </p:nvSpPr>
        <p:spPr>
          <a:xfrm rot="5400000">
            <a:off x="971550" y="3009900"/>
            <a:ext cx="209550" cy="19050"/>
          </a:xfrm>
          <a:prstGeom prst="rect">
            <a:avLst/>
          </a:prstGeom>
          <a:noFill/>
          <a:ln w="19050">
            <a:solidFill>
              <a:srgbClr val="E4E4E7"/>
            </a:solidFill>
          </a:ln>
        </p:spPr>
      </p:sp>
      <p:sp>
        <p:nvSpPr>
          <p:cNvPr id="163" name="Dot"/>
          <p:cNvSpPr/>
          <p:nvPr/>
        </p:nvSpPr>
        <p:spPr>
          <a:xfrm>
            <a:off x="742950" y="3228975"/>
            <a:ext cx="457200" cy="457200"/>
          </a:xfrm>
          <a:prstGeom prst="ellipse">
            <a:avLst/>
          </a:prstGeom>
          <a:solidFill>
            <a:srgbClr val="FF5117"/>
          </a:solidFill>
          <a:ln>
            <a:noFill/>
          </a:ln>
        </p:spPr>
      </p:sp>
      <p:sp>
        <p:nvSpPr>
          <p:cNvPr id="164" name="Text"/>
          <p:cNvSpPr/>
          <p:nvPr/>
        </p:nvSpPr>
        <p:spPr>
          <a:xfrm>
            <a:off x="781050" y="3286125"/>
            <a:ext cx="381000" cy="285750"/>
          </a:xfrm>
          <a:noFill/>
          <a:ln>
            <a:noFill/>
          </a:ln>
        </p:spPr>
        <p:txBody>
          <a:bodyPr lIns="0" tIns="0" rIns="0" bIns="0" anchor="mid"/>
          <a:lstStyle/>
          <a:p>
            <a:pPr algn="c" lvl="0">
              <a:buNone/>
            </a:pPr>
            <a:r>
              <a:rPr lang="es-PE" sz="1200" b="1" i="0">
                <a:solidFill>
                  <a:srgbClr val="FAFAFA"/>
                </a:solidFill>
                <a:latin typeface="IBM Plex Mono"/>
              </a:rPr>
              <a:t>02</a:t>
            </a:r>
            <a:endParaRPr lang="es-PE" sz="1200"/>
          </a:p>
        </p:txBody>
      </p:sp>
      <p:sp>
        <p:nvSpPr>
          <p:cNvPr id="165" name="Text"/>
          <p:cNvSpPr/>
          <p:nvPr/>
        </p:nvSpPr>
        <p:spPr>
          <a:xfrm>
            <a:off x="1428750" y="3219450"/>
            <a:ext cx="2190750" cy="285750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1900" b="1" i="0">
                <a:solidFill>
                  <a:srgbClr val="111111"/>
                </a:solidFill>
                <a:latin typeface="Roboto"/>
              </a:rPr>
              <a:t>Generación</a:t>
            </a:r>
            <a:endParaRPr lang="es-PE" sz="1900"/>
          </a:p>
        </p:txBody>
      </p:sp>
      <p:sp>
        <p:nvSpPr>
          <p:cNvPr id="166" name="Text"/>
          <p:cNvSpPr/>
          <p:nvPr/>
        </p:nvSpPr>
        <p:spPr>
          <a:xfrm>
            <a:off x="3714750" y="3219450"/>
            <a:ext cx="7239000" cy="438150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1600" b="0" i="0">
                <a:solidFill>
                  <a:srgbClr val="202124"/>
                </a:solidFill>
                <a:latin typeface="Roboto"/>
              </a:rPr>
              <a:t>OpenAI devuelve Cypher estructurado y parametrizado, con hasta dos intentos.</a:t>
            </a:r>
            <a:endParaRPr lang="es-PE" sz="1600"/>
          </a:p>
        </p:txBody>
      </p:sp>
      <p:sp>
        <p:nvSpPr>
          <p:cNvPr id="167" name="Rule"/>
          <p:cNvSpPr/>
          <p:nvPr/>
        </p:nvSpPr>
        <p:spPr>
          <a:xfrm rot="5400000">
            <a:off x="971550" y="3695700"/>
            <a:ext cx="209550" cy="19050"/>
          </a:xfrm>
          <a:prstGeom prst="rect">
            <a:avLst/>
          </a:prstGeom>
          <a:noFill/>
          <a:ln w="19050">
            <a:solidFill>
              <a:srgbClr val="E4E4E7"/>
            </a:solidFill>
          </a:ln>
        </p:spPr>
      </p:sp>
      <p:sp>
        <p:nvSpPr>
          <p:cNvPr id="168" name="Dot"/>
          <p:cNvSpPr/>
          <p:nvPr/>
        </p:nvSpPr>
        <p:spPr>
          <a:xfrm>
            <a:off x="742950" y="3914775"/>
            <a:ext cx="457200" cy="457200"/>
          </a:xfrm>
          <a:prstGeom prst="ellipse">
            <a:avLst/>
          </a:prstGeom>
          <a:solidFill>
            <a:srgbClr val="FF5117"/>
          </a:solidFill>
          <a:ln>
            <a:noFill/>
          </a:ln>
        </p:spPr>
      </p:sp>
      <p:sp>
        <p:nvSpPr>
          <p:cNvPr id="169" name="Text"/>
          <p:cNvSpPr/>
          <p:nvPr/>
        </p:nvSpPr>
        <p:spPr>
          <a:xfrm>
            <a:off x="781050" y="3971925"/>
            <a:ext cx="381000" cy="285750"/>
          </a:xfrm>
          <a:noFill/>
          <a:ln>
            <a:noFill/>
          </a:ln>
        </p:spPr>
        <p:txBody>
          <a:bodyPr lIns="0" tIns="0" rIns="0" bIns="0" anchor="mid"/>
          <a:lstStyle/>
          <a:p>
            <a:pPr algn="c" lvl="0">
              <a:buNone/>
            </a:pPr>
            <a:r>
              <a:rPr lang="es-PE" sz="1200" b="1" i="0">
                <a:solidFill>
                  <a:srgbClr val="FAFAFA"/>
                </a:solidFill>
                <a:latin typeface="IBM Plex Mono"/>
              </a:rPr>
              <a:t>03</a:t>
            </a:r>
            <a:endParaRPr lang="es-PE" sz="1200"/>
          </a:p>
        </p:txBody>
      </p:sp>
      <p:sp>
        <p:nvSpPr>
          <p:cNvPr id="170" name="Text"/>
          <p:cNvSpPr/>
          <p:nvPr/>
        </p:nvSpPr>
        <p:spPr>
          <a:xfrm>
            <a:off x="1428750" y="3905250"/>
            <a:ext cx="2190750" cy="285750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1900" b="1" i="0">
                <a:solidFill>
                  <a:srgbClr val="111111"/>
                </a:solidFill>
                <a:latin typeface="Roboto"/>
              </a:rPr>
              <a:t>Entidades</a:t>
            </a:r>
            <a:endParaRPr lang="es-PE" sz="1900"/>
          </a:p>
        </p:txBody>
      </p:sp>
      <p:sp>
        <p:nvSpPr>
          <p:cNvPr id="171" name="Text"/>
          <p:cNvSpPr/>
          <p:nvPr/>
        </p:nvSpPr>
        <p:spPr>
          <a:xfrm>
            <a:off x="3714750" y="3905250"/>
            <a:ext cx="7239000" cy="438150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1600" b="0" i="0">
                <a:solidFill>
                  <a:srgbClr val="202124"/>
                </a:solidFill>
                <a:latin typeface="Roboto"/>
              </a:rPr>
              <a:t>Se validan IDs canónicos, cardinalidad y reconciliación de valores confiables.</a:t>
            </a:r>
            <a:endParaRPr lang="es-PE" sz="1600"/>
          </a:p>
        </p:txBody>
      </p:sp>
      <p:sp>
        <p:nvSpPr>
          <p:cNvPr id="172" name="Rule"/>
          <p:cNvSpPr/>
          <p:nvPr/>
        </p:nvSpPr>
        <p:spPr>
          <a:xfrm rot="5400000">
            <a:off x="971550" y="4381500"/>
            <a:ext cx="209550" cy="19050"/>
          </a:xfrm>
          <a:prstGeom prst="rect">
            <a:avLst/>
          </a:prstGeom>
          <a:noFill/>
          <a:ln w="19050">
            <a:solidFill>
              <a:srgbClr val="E4E4E7"/>
            </a:solidFill>
          </a:ln>
        </p:spPr>
      </p:sp>
      <p:sp>
        <p:nvSpPr>
          <p:cNvPr id="173" name="Dot"/>
          <p:cNvSpPr/>
          <p:nvPr/>
        </p:nvSpPr>
        <p:spPr>
          <a:xfrm>
            <a:off x="742950" y="4600575"/>
            <a:ext cx="457200" cy="457200"/>
          </a:xfrm>
          <a:prstGeom prst="ellipse">
            <a:avLst/>
          </a:prstGeom>
          <a:solidFill>
            <a:srgbClr val="FF5117"/>
          </a:solidFill>
          <a:ln>
            <a:noFill/>
          </a:ln>
        </p:spPr>
      </p:sp>
      <p:sp>
        <p:nvSpPr>
          <p:cNvPr id="174" name="Text"/>
          <p:cNvSpPr/>
          <p:nvPr/>
        </p:nvSpPr>
        <p:spPr>
          <a:xfrm>
            <a:off x="781050" y="4657725"/>
            <a:ext cx="381000" cy="285750"/>
          </a:xfrm>
          <a:noFill/>
          <a:ln>
            <a:noFill/>
          </a:ln>
        </p:spPr>
        <p:txBody>
          <a:bodyPr lIns="0" tIns="0" rIns="0" bIns="0" anchor="mid"/>
          <a:lstStyle/>
          <a:p>
            <a:pPr algn="c" lvl="0">
              <a:buNone/>
            </a:pPr>
            <a:r>
              <a:rPr lang="es-PE" sz="1200" b="1" i="0">
                <a:solidFill>
                  <a:srgbClr val="FAFAFA"/>
                </a:solidFill>
                <a:latin typeface="IBM Plex Mono"/>
              </a:rPr>
              <a:t>04</a:t>
            </a:r>
            <a:endParaRPr lang="es-PE" sz="1200"/>
          </a:p>
        </p:txBody>
      </p:sp>
      <p:sp>
        <p:nvSpPr>
          <p:cNvPr id="175" name="Text"/>
          <p:cNvSpPr/>
          <p:nvPr/>
        </p:nvSpPr>
        <p:spPr>
          <a:xfrm>
            <a:off x="1428750" y="4591050"/>
            <a:ext cx="2190750" cy="285750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1900" b="1" i="0">
                <a:solidFill>
                  <a:srgbClr val="111111"/>
                </a:solidFill>
                <a:latin typeface="Roboto"/>
              </a:rPr>
              <a:t>Guardia final</a:t>
            </a:r>
            <a:endParaRPr lang="es-PE" sz="1900"/>
          </a:p>
        </p:txBody>
      </p:sp>
      <p:sp>
        <p:nvSpPr>
          <p:cNvPr id="176" name="Text"/>
          <p:cNvSpPr/>
          <p:nvPr/>
        </p:nvSpPr>
        <p:spPr>
          <a:xfrm>
            <a:off x="3714750" y="4591050"/>
            <a:ext cx="7239000" cy="438150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1600" b="0" i="0">
                <a:solidFill>
                  <a:srgbClr val="202124"/>
                </a:solidFill>
                <a:latin typeface="Roboto"/>
              </a:rPr>
              <a:t>Fail-closed: sin escrituras, sin procedimientos, sin retornos completos, límite 1–100.</a:t>
            </a:r>
            <a:endParaRPr lang="es-PE" sz="1600"/>
          </a:p>
        </p:txBody>
      </p:sp>
      <p:sp>
        <p:nvSpPr>
          <p:cNvPr id="177" name="Rule"/>
          <p:cNvSpPr/>
          <p:nvPr/>
        </p:nvSpPr>
        <p:spPr>
          <a:xfrm rot="5400000">
            <a:off x="971550" y="5067300"/>
            <a:ext cx="209550" cy="19050"/>
          </a:xfrm>
          <a:prstGeom prst="rect">
            <a:avLst/>
          </a:prstGeom>
          <a:noFill/>
          <a:ln w="19050">
            <a:solidFill>
              <a:srgbClr val="E4E4E7"/>
            </a:solidFill>
          </a:ln>
        </p:spPr>
      </p:sp>
      <p:sp>
        <p:nvSpPr>
          <p:cNvPr id="178" name="Dot"/>
          <p:cNvSpPr/>
          <p:nvPr/>
        </p:nvSpPr>
        <p:spPr>
          <a:xfrm>
            <a:off x="742950" y="5286375"/>
            <a:ext cx="457200" cy="457200"/>
          </a:xfrm>
          <a:prstGeom prst="ellipse">
            <a:avLst/>
          </a:prstGeom>
          <a:solidFill>
            <a:srgbClr val="00C78B"/>
          </a:solidFill>
          <a:ln>
            <a:noFill/>
          </a:ln>
        </p:spPr>
      </p:sp>
      <p:sp>
        <p:nvSpPr>
          <p:cNvPr id="179" name="Text"/>
          <p:cNvSpPr/>
          <p:nvPr/>
        </p:nvSpPr>
        <p:spPr>
          <a:xfrm>
            <a:off x="781050" y="5343525"/>
            <a:ext cx="381000" cy="285750"/>
          </a:xfrm>
          <a:noFill/>
          <a:ln>
            <a:noFill/>
          </a:ln>
        </p:spPr>
        <p:txBody>
          <a:bodyPr lIns="0" tIns="0" rIns="0" bIns="0" anchor="mid"/>
          <a:lstStyle/>
          <a:p>
            <a:pPr algn="c" lvl="0">
              <a:buNone/>
            </a:pPr>
            <a:r>
              <a:rPr lang="es-PE" sz="1200" b="1" i="0">
                <a:solidFill>
                  <a:srgbClr val="FAFAFA"/>
                </a:solidFill>
                <a:latin typeface="IBM Plex Mono"/>
              </a:rPr>
              <a:t>05</a:t>
            </a:r>
            <a:endParaRPr lang="es-PE" sz="1200"/>
          </a:p>
        </p:txBody>
      </p:sp>
      <p:sp>
        <p:nvSpPr>
          <p:cNvPr id="180" name="Text"/>
          <p:cNvSpPr/>
          <p:nvPr/>
        </p:nvSpPr>
        <p:spPr>
          <a:xfrm>
            <a:off x="1428750" y="5276850"/>
            <a:ext cx="2190750" cy="285750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1900" b="1" i="0">
                <a:solidFill>
                  <a:srgbClr val="111111"/>
                </a:solidFill>
                <a:latin typeface="Roboto"/>
              </a:rPr>
              <a:t>Gateway READ</a:t>
            </a:r>
            <a:endParaRPr lang="es-PE" sz="1900"/>
          </a:p>
        </p:txBody>
      </p:sp>
      <p:sp>
        <p:nvSpPr>
          <p:cNvPr id="181" name="Text"/>
          <p:cNvSpPr/>
          <p:nvPr/>
        </p:nvSpPr>
        <p:spPr>
          <a:xfrm>
            <a:off x="3714750" y="5276850"/>
            <a:ext cx="7239000" cy="438150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1600" b="0" i="0">
                <a:solidFill>
                  <a:srgbClr val="202124"/>
                </a:solidFill>
                <a:latin typeface="Roboto"/>
              </a:rPr>
              <a:t>EXPLAIN + ejecución con RoutingControl.READ, warnings revisados y respuesta normalizada.</a:t>
            </a:r>
            <a:endParaRPr lang="es-PE" sz="1600"/>
          </a:p>
        </p:txBody>
      </p:sp>
      <p:sp>
        <p:nvSpPr>
          <p:cNvPr id="182" name="Text"/>
          <p:cNvSpPr/>
          <p:nvPr/>
        </p:nvSpPr>
        <p:spPr>
          <a:xfrm>
            <a:off x="714375" y="6067425"/>
            <a:ext cx="10477500" cy="247650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1400" b="1" i="0">
                <a:solidFill>
                  <a:srgbClr val="FF5117"/>
                </a:solidFill>
                <a:latin typeface="IBM Plex Mono"/>
              </a:rPr>
              <a:t>Hito relevante: el commit 4c24bc0 reemplazó etiquetas hardcodeadas por schema vivo.</a:t>
            </a:r>
            <a:endParaRPr lang="es-PE" sz="1400"/>
          </a:p>
        </p:txBody>
      </p:sp>
      <p:sp>
        <p:nvSpPr>
          <p:cNvPr id="183" name="Rule"/>
          <p:cNvSpPr/>
          <p:nvPr/>
        </p:nvSpPr>
        <p:spPr>
          <a:xfrm rot="0">
            <a:off x="685800" y="6486525"/>
            <a:ext cx="10820400" cy="9525"/>
          </a:xfrm>
          <a:prstGeom prst="rect">
            <a:avLst/>
          </a:prstGeom>
          <a:noFill/>
          <a:ln w="9525">
            <a:solidFill>
              <a:srgbClr val="E4E4E7"/>
            </a:solidFill>
          </a:ln>
        </p:spPr>
      </p:sp>
      <p:sp>
        <p:nvSpPr>
          <p:cNvPr id="184" name="Text"/>
          <p:cNvSpPr/>
          <p:nvPr/>
        </p:nvSpPr>
        <p:spPr>
          <a:xfrm>
            <a:off x="685800" y="6553200"/>
            <a:ext cx="8191500" cy="142875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900" b="0" i="0">
                <a:solidFill>
                  <a:srgbClr val="97999B"/>
                </a:solidFill>
                <a:latin typeface="IBM Plex Mono"/>
              </a:rPr>
              <a:t>CIAR · estado técnico · 26.08.2026 · fuente: neo4j_schema.py, construye_cypher.py, cypher_guard.py, utils/db.py</a:t>
            </a:r>
            <a:endParaRPr lang="es-PE" sz="900"/>
          </a:p>
        </p:txBody>
      </p:sp>
      <p:sp>
        <p:nvSpPr>
          <p:cNvPr id="185" name="Text"/>
          <p:cNvSpPr/>
          <p:nvPr/>
        </p:nvSpPr>
        <p:spPr>
          <a:xfrm>
            <a:off x="10763250" y="6553200"/>
            <a:ext cx="742950" cy="142875"/>
          </a:xfrm>
          <a:noFill/>
          <a:ln>
            <a:noFill/>
          </a:ln>
        </p:spPr>
        <p:txBody>
          <a:bodyPr lIns="0" tIns="0" rIns="0" bIns="0" anchor="mid"/>
          <a:lstStyle/>
          <a:p>
            <a:pPr algn="r" lvl="0">
              <a:buNone/>
            </a:pPr>
            <a:r>
              <a:rPr lang="es-PE" sz="1000" b="1" i="0">
                <a:solidFill>
                  <a:srgbClr val="FF5117"/>
                </a:solidFill>
                <a:latin typeface="Roboto"/>
              </a:rPr>
              <a:t>ULIMA</a:t>
            </a:r>
            <a:endParaRPr lang="es-PE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</a:xfrm>
        <a:prstGeom prst="rect">
          <a:avLst/>
        </a:prstGeom>
      </p:grpSpPr>
      <p:sp>
        <p:nvSpPr>
          <p:cNvPr id="186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</p:sp>
      <p:sp>
        <p:nvSpPr>
          <p:cNvPr id="187" name="Slide title"/>
          <p:cNvSpPr/>
          <p:nvPr/>
        </p:nvSpPr>
        <p:spPr>
          <a:xfrm>
            <a:off x="685800" y="533400"/>
            <a:ext cx="10477500" cy="514350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3400" b="1" i="0">
                <a:solidFill>
                  <a:srgbClr val="111111"/>
                </a:solidFill>
                <a:latin typeface="Roboto"/>
              </a:rPr>
              <a:t>El dashboard ya tiene un núcleo útil y mantiene límites semánticos</a:t>
            </a:r>
            <a:endParaRPr lang="es-PE" sz="3400"/>
          </a:p>
        </p:txBody>
      </p:sp>
      <p:sp>
        <p:nvSpPr>
          <p:cNvPr id="188" name="Text"/>
          <p:cNvSpPr/>
          <p:nvPr/>
        </p:nvSpPr>
        <p:spPr>
          <a:xfrm>
            <a:off x="704850" y="1076325"/>
            <a:ext cx="9334500" cy="247650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1500" b="0" i="0">
                <a:solidFill>
                  <a:srgbClr val="97999B"/>
                </a:solidFill>
                <a:latin typeface="Roboto"/>
              </a:rPr>
              <a:t>7 datasets activos; 5 diferidos sin fabricar resultados</a:t>
            </a:r>
            <a:endParaRPr lang="es-PE" sz="1500"/>
          </a:p>
        </p:txBody>
      </p:sp>
      <p:sp>
        <p:nvSpPr>
          <p:cNvPr id="189" name="Rule"/>
          <p:cNvSpPr/>
          <p:nvPr/>
        </p:nvSpPr>
        <p:spPr>
          <a:xfrm rot="0">
            <a:off x="685800" y="1428750"/>
            <a:ext cx="10820400" cy="9525"/>
          </a:xfrm>
          <a:prstGeom prst="rect">
            <a:avLst/>
          </a:prstGeom>
          <a:noFill/>
          <a:ln w="9525">
            <a:solidFill>
              <a:srgbClr val="E4E4E7"/>
            </a:solidFill>
          </a:ln>
        </p:spPr>
      </p:sp>
      <p:sp>
        <p:nvSpPr>
          <p:cNvPr id="190" name="Text"/>
          <p:cNvSpPr/>
          <p:nvPr/>
        </p:nvSpPr>
        <p:spPr>
          <a:xfrm>
            <a:off x="704850" y="1743075"/>
            <a:ext cx="4953000" cy="285750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1300" b="1" i="0">
                <a:solidFill>
                  <a:srgbClr val="00C78B"/>
                </a:solidFill>
                <a:latin typeface="IBM Plex Mono"/>
              </a:rPr>
              <a:t>ACTIVOS</a:t>
            </a:r>
            <a:endParaRPr lang="es-PE" sz="1300"/>
          </a:p>
        </p:txBody>
      </p:sp>
      <p:sp>
        <p:nvSpPr>
          <p:cNvPr id="191" name="Dot"/>
          <p:cNvSpPr/>
          <p:nvPr/>
        </p:nvSpPr>
        <p:spPr>
          <a:xfrm>
            <a:off x="733425" y="2324100"/>
            <a:ext cx="95250" cy="95250"/>
          </a:xfrm>
          <a:prstGeom prst="ellipse">
            <a:avLst/>
          </a:prstGeom>
          <a:solidFill>
            <a:srgbClr val="00C78B"/>
          </a:solidFill>
          <a:ln>
            <a:noFill/>
          </a:ln>
        </p:spPr>
      </p:sp>
      <p:sp>
        <p:nvSpPr>
          <p:cNvPr id="192" name="Text"/>
          <p:cNvSpPr/>
          <p:nvPr/>
        </p:nvSpPr>
        <p:spPr>
          <a:xfrm>
            <a:off x="933450" y="2238375"/>
            <a:ext cx="2238375" cy="266700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1500" b="0" i="0">
                <a:solidFill>
                  <a:srgbClr val="202124"/>
                </a:solidFill>
                <a:latin typeface="Roboto"/>
              </a:rPr>
              <a:t>Tendencia de ofertas</a:t>
            </a:r>
            <a:endParaRPr lang="es-PE" sz="1500"/>
          </a:p>
        </p:txBody>
      </p:sp>
      <p:sp>
        <p:nvSpPr>
          <p:cNvPr id="193" name="Dot"/>
          <p:cNvSpPr/>
          <p:nvPr/>
        </p:nvSpPr>
        <p:spPr>
          <a:xfrm>
            <a:off x="3305175" y="2324100"/>
            <a:ext cx="95250" cy="95250"/>
          </a:xfrm>
          <a:prstGeom prst="ellipse">
            <a:avLst/>
          </a:prstGeom>
          <a:solidFill>
            <a:srgbClr val="00C78B"/>
          </a:solidFill>
          <a:ln>
            <a:noFill/>
          </a:ln>
        </p:spPr>
      </p:sp>
      <p:sp>
        <p:nvSpPr>
          <p:cNvPr id="194" name="Text"/>
          <p:cNvSpPr/>
          <p:nvPr/>
        </p:nvSpPr>
        <p:spPr>
          <a:xfrm>
            <a:off x="3505200" y="2238375"/>
            <a:ext cx="2238375" cy="266700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1500" b="0" i="0">
                <a:solidFill>
                  <a:srgbClr val="202124"/>
                </a:solidFill>
                <a:latin typeface="Roboto"/>
              </a:rPr>
              <a:t>Demanda por carrera</a:t>
            </a:r>
            <a:endParaRPr lang="es-PE" sz="1500"/>
          </a:p>
        </p:txBody>
      </p:sp>
      <p:sp>
        <p:nvSpPr>
          <p:cNvPr id="195" name="Dot"/>
          <p:cNvSpPr/>
          <p:nvPr/>
        </p:nvSpPr>
        <p:spPr>
          <a:xfrm>
            <a:off x="733425" y="2847975"/>
            <a:ext cx="95250" cy="95250"/>
          </a:xfrm>
          <a:prstGeom prst="ellipse">
            <a:avLst/>
          </a:prstGeom>
          <a:solidFill>
            <a:srgbClr val="00C78B"/>
          </a:solidFill>
          <a:ln>
            <a:noFill/>
          </a:ln>
        </p:spPr>
      </p:sp>
      <p:sp>
        <p:nvSpPr>
          <p:cNvPr id="196" name="Text"/>
          <p:cNvSpPr/>
          <p:nvPr/>
        </p:nvSpPr>
        <p:spPr>
          <a:xfrm>
            <a:off x="933450" y="2762250"/>
            <a:ext cx="2238375" cy="266700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1500" b="0" i="0">
                <a:solidFill>
                  <a:srgbClr val="202124"/>
                </a:solidFill>
                <a:latin typeface="Roboto"/>
              </a:rPr>
              <a:t>Industrias por carrera</a:t>
            </a:r>
            <a:endParaRPr lang="es-PE" sz="1500"/>
          </a:p>
        </p:txBody>
      </p:sp>
      <p:sp>
        <p:nvSpPr>
          <p:cNvPr id="197" name="Dot"/>
          <p:cNvSpPr/>
          <p:nvPr/>
        </p:nvSpPr>
        <p:spPr>
          <a:xfrm>
            <a:off x="3305175" y="2847975"/>
            <a:ext cx="95250" cy="95250"/>
          </a:xfrm>
          <a:prstGeom prst="ellipse">
            <a:avLst/>
          </a:prstGeom>
          <a:solidFill>
            <a:srgbClr val="00C78B"/>
          </a:solidFill>
          <a:ln>
            <a:noFill/>
          </a:ln>
        </p:spPr>
      </p:sp>
      <p:sp>
        <p:nvSpPr>
          <p:cNvPr id="198" name="Text"/>
          <p:cNvSpPr/>
          <p:nvPr/>
        </p:nvSpPr>
        <p:spPr>
          <a:xfrm>
            <a:off x="3505200" y="2762250"/>
            <a:ext cx="2238375" cy="266700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1500" b="0" i="0">
                <a:solidFill>
                  <a:srgbClr val="202124"/>
                </a:solidFill>
                <a:latin typeface="Roboto"/>
              </a:rPr>
              <a:t>Conocimientos demandados</a:t>
            </a:r>
            <a:endParaRPr lang="es-PE" sz="1500"/>
          </a:p>
        </p:txBody>
      </p:sp>
      <p:sp>
        <p:nvSpPr>
          <p:cNvPr id="199" name="Dot"/>
          <p:cNvSpPr/>
          <p:nvPr/>
        </p:nvSpPr>
        <p:spPr>
          <a:xfrm>
            <a:off x="733425" y="3371850"/>
            <a:ext cx="95250" cy="95250"/>
          </a:xfrm>
          <a:prstGeom prst="ellipse">
            <a:avLst/>
          </a:prstGeom>
          <a:solidFill>
            <a:srgbClr val="00C78B"/>
          </a:solidFill>
          <a:ln>
            <a:noFill/>
          </a:ln>
        </p:spPr>
      </p:sp>
      <p:sp>
        <p:nvSpPr>
          <p:cNvPr id="200" name="Text"/>
          <p:cNvSpPr/>
          <p:nvPr/>
        </p:nvSpPr>
        <p:spPr>
          <a:xfrm>
            <a:off x="933450" y="3286125"/>
            <a:ext cx="2238375" cy="266700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1500" b="0" i="0">
                <a:solidFill>
                  <a:srgbClr val="202124"/>
                </a:solidFill>
                <a:latin typeface="Roboto"/>
              </a:rPr>
              <a:t>Cobertura curricular</a:t>
            </a:r>
            <a:endParaRPr lang="es-PE" sz="1500"/>
          </a:p>
        </p:txBody>
      </p:sp>
      <p:sp>
        <p:nvSpPr>
          <p:cNvPr id="201" name="Dot"/>
          <p:cNvSpPr/>
          <p:nvPr/>
        </p:nvSpPr>
        <p:spPr>
          <a:xfrm>
            <a:off x="3305175" y="3371850"/>
            <a:ext cx="95250" cy="95250"/>
          </a:xfrm>
          <a:prstGeom prst="ellipse">
            <a:avLst/>
          </a:prstGeom>
          <a:solidFill>
            <a:srgbClr val="00C78B"/>
          </a:solidFill>
          <a:ln>
            <a:noFill/>
          </a:ln>
        </p:spPr>
      </p:sp>
      <p:sp>
        <p:nvSpPr>
          <p:cNvPr id="202" name="Text"/>
          <p:cNvSpPr/>
          <p:nvPr/>
        </p:nvSpPr>
        <p:spPr>
          <a:xfrm>
            <a:off x="3505200" y="3286125"/>
            <a:ext cx="2238375" cy="266700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1500" b="0" i="0">
                <a:solidFill>
                  <a:srgbClr val="202124"/>
                </a:solidFill>
                <a:latin typeface="Roboto"/>
              </a:rPr>
              <a:t>Brechas de demanda alta</a:t>
            </a:r>
            <a:endParaRPr lang="es-PE" sz="1500"/>
          </a:p>
        </p:txBody>
      </p:sp>
      <p:sp>
        <p:nvSpPr>
          <p:cNvPr id="203" name="Dot"/>
          <p:cNvSpPr/>
          <p:nvPr/>
        </p:nvSpPr>
        <p:spPr>
          <a:xfrm>
            <a:off x="733425" y="3895725"/>
            <a:ext cx="95250" cy="95250"/>
          </a:xfrm>
          <a:prstGeom prst="ellipse">
            <a:avLst/>
          </a:prstGeom>
          <a:solidFill>
            <a:srgbClr val="00C78B"/>
          </a:solidFill>
          <a:ln>
            <a:noFill/>
          </a:ln>
        </p:spPr>
      </p:sp>
      <p:sp>
        <p:nvSpPr>
          <p:cNvPr id="204" name="Text"/>
          <p:cNvSpPr/>
          <p:nvPr/>
        </p:nvSpPr>
        <p:spPr>
          <a:xfrm>
            <a:off x="933450" y="3810000"/>
            <a:ext cx="2238375" cy="266700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1500" b="0" i="0">
                <a:solidFill>
                  <a:srgbClr val="202124"/>
                </a:solidFill>
                <a:latin typeface="Roboto"/>
              </a:rPr>
              <a:t>Empresas y conocimientos</a:t>
            </a:r>
            <a:endParaRPr lang="es-PE" sz="1500"/>
          </a:p>
        </p:txBody>
      </p:sp>
      <p:sp>
        <p:nvSpPr>
          <p:cNvPr id="205" name="Text"/>
          <p:cNvSpPr/>
          <p:nvPr/>
        </p:nvSpPr>
        <p:spPr>
          <a:xfrm>
            <a:off x="704850" y="4295775"/>
            <a:ext cx="4953000" cy="266700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1300" b="1" i="0">
                <a:solidFill>
                  <a:srgbClr val="FFA000"/>
                </a:solidFill>
                <a:latin typeface="IBM Plex Mono"/>
              </a:rPr>
              <a:t>DIFERIDOS</a:t>
            </a:r>
            <a:endParaRPr lang="es-PE" sz="1300"/>
          </a:p>
        </p:txBody>
      </p:sp>
      <p:sp>
        <p:nvSpPr>
          <p:cNvPr id="206" name="Text"/>
          <p:cNvSpPr/>
          <p:nvPr/>
        </p:nvSpPr>
        <p:spPr>
          <a:xfrm>
            <a:off x="704850" y="4686300"/>
            <a:ext cx="4953000" cy="857250"/>
          </a:xfrm>
          <a:noFill/>
          <a:ln>
            <a:noFill/>
          </a:ln>
        </p:spPr>
        <p:txBody>
          <a:bodyPr lIns="0" tIns="0" rIns="0" bIns="0" anchor="top"/>
          <a:lstStyle/>
          <a:p>
            <a:pPr algn="l" lvl="0">
              <a:buNone/>
            </a:pPr>
            <a:r>
              <a:rPr lang="es-PE" sz="1600" b="0" i="0">
                <a:solidFill>
                  <a:srgbClr val="202124"/>
                </a:solidFill>
                <a:latin typeface="Roboto"/>
              </a:rPr>
              <a:t>Vigencia · correspondencia curso-oferta · diferenciadores de empresas · liderazgo · funciones por tipo de empresa</a:t>
            </a:r>
            <a:endParaRPr lang="es-PE" sz="1600"/>
          </a:p>
        </p:txBody>
      </p:sp>
      <p:sp>
        <p:nvSpPr>
          <p:cNvPr id="207" name="Shape"/>
          <p:cNvSpPr/>
          <p:nvPr/>
        </p:nvSpPr>
        <p:spPr>
          <a:xfrm>
            <a:off x="6572250" y="1924050"/>
            <a:ext cx="4762500" cy="3581400"/>
          </a:xfrm>
          <a:prstGeom prst="roundRect">
            <a:avLst/>
          </a:prstGeom>
          <a:solidFill>
            <a:srgbClr val="111111"/>
          </a:solidFill>
          <a:ln>
            <a:noFill/>
          </a:ln>
        </p:spPr>
      </p:sp>
      <p:sp>
        <p:nvSpPr>
          <p:cNvPr id="208" name="Text"/>
          <p:cNvSpPr/>
          <p:nvPr/>
        </p:nvSpPr>
        <p:spPr>
          <a:xfrm>
            <a:off x="6896100" y="2247900"/>
            <a:ext cx="4000500" cy="285750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1200" b="1" i="0">
                <a:solidFill>
                  <a:srgbClr val="00C5D6"/>
                </a:solidFill>
                <a:latin typeface="IBM Plex Mono"/>
              </a:rPr>
              <a:t>QUÉ MIDE</a:t>
            </a:r>
            <a:endParaRPr lang="es-PE" sz="1200"/>
          </a:p>
        </p:txBody>
      </p:sp>
      <p:sp>
        <p:nvSpPr>
          <p:cNvPr id="209" name="Text"/>
          <p:cNvSpPr/>
          <p:nvPr/>
        </p:nvSpPr>
        <p:spPr>
          <a:xfrm>
            <a:off x="6896100" y="2647950"/>
            <a:ext cx="3905250" cy="876300"/>
          </a:xfrm>
          <a:noFill/>
          <a:ln>
            <a:noFill/>
          </a:ln>
        </p:spPr>
        <p:txBody>
          <a:bodyPr lIns="0" tIns="0" rIns="0" bIns="0" anchor="top"/>
          <a:lstStyle/>
          <a:p>
            <a:pPr algn="l" lvl="0">
              <a:buNone/>
            </a:pPr>
            <a:r>
              <a:rPr lang="es-PE" sz="2100" b="0" i="0">
                <a:solidFill>
                  <a:srgbClr val="FAFAFA"/>
                </a:solidFill>
                <a:latin typeface="Lusitana"/>
              </a:rPr>
              <a:t>Publicaciones laborales, empresas publicadoras, industrias, requisitos declarados y cobertura curricular declarada.</a:t>
            </a:r>
            <a:endParaRPr lang="es-PE" sz="2100"/>
          </a:p>
        </p:txBody>
      </p:sp>
      <p:sp>
        <p:nvSpPr>
          <p:cNvPr id="210" name="Rule"/>
          <p:cNvSpPr/>
          <p:nvPr/>
        </p:nvSpPr>
        <p:spPr>
          <a:xfrm rot="0">
            <a:off x="6896100" y="3800475"/>
            <a:ext cx="4019550" cy="9525"/>
          </a:xfrm>
          <a:prstGeom prst="rect">
            <a:avLst/>
          </a:prstGeom>
          <a:noFill/>
          <a:ln w="9525">
            <a:solidFill>
              <a:srgbClr val="97999B"/>
            </a:solidFill>
          </a:ln>
        </p:spPr>
      </p:sp>
      <p:sp>
        <p:nvSpPr>
          <p:cNvPr id="211" name="Text"/>
          <p:cNvSpPr/>
          <p:nvPr/>
        </p:nvSpPr>
        <p:spPr>
          <a:xfrm>
            <a:off x="6896100" y="4038600"/>
            <a:ext cx="4000500" cy="228600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1200" b="1" i="0">
                <a:solidFill>
                  <a:srgbClr val="FF5117"/>
                </a:solidFill>
                <a:latin typeface="IBM Plex Mono"/>
              </a:rPr>
              <a:t>QUÉ NO MIDE</a:t>
            </a:r>
            <a:endParaRPr lang="es-PE" sz="1200"/>
          </a:p>
        </p:txBody>
      </p:sp>
      <p:sp>
        <p:nvSpPr>
          <p:cNvPr id="212" name="Text"/>
          <p:cNvSpPr/>
          <p:nvPr/>
        </p:nvSpPr>
        <p:spPr>
          <a:xfrm>
            <a:off x="6896100" y="4391025"/>
            <a:ext cx="4000500" cy="723900"/>
          </a:xfrm>
          <a:noFill/>
          <a:ln>
            <a:noFill/>
          </a:ln>
        </p:spPr>
        <p:txBody>
          <a:bodyPr lIns="0" tIns="0" rIns="0" bIns="0" anchor="top"/>
          <a:lstStyle/>
          <a:p>
            <a:pPr algn="l" lvl="0">
              <a:buNone/>
            </a:pPr>
            <a:r>
              <a:rPr lang="es-PE" sz="1800" b="0" i="0">
                <a:solidFill>
                  <a:srgbClr val="FAFAFA"/>
                </a:solidFill>
                <a:latin typeface="Roboto"/>
              </a:rPr>
              <a:t>No prueba contratación, empleo efectivo, dominio del estudiante, tamaño empresarial ni causalidad.</a:t>
            </a:r>
            <a:endParaRPr lang="es-PE" sz="1800"/>
          </a:p>
        </p:txBody>
      </p:sp>
      <p:sp>
        <p:nvSpPr>
          <p:cNvPr id="213" name="Rule"/>
          <p:cNvSpPr/>
          <p:nvPr/>
        </p:nvSpPr>
        <p:spPr>
          <a:xfrm rot="0">
            <a:off x="685800" y="6486525"/>
            <a:ext cx="10820400" cy="9525"/>
          </a:xfrm>
          <a:prstGeom prst="rect">
            <a:avLst/>
          </a:prstGeom>
          <a:noFill/>
          <a:ln w="9525">
            <a:solidFill>
              <a:srgbClr val="E4E4E7"/>
            </a:solidFill>
          </a:ln>
        </p:spPr>
      </p:sp>
      <p:sp>
        <p:nvSpPr>
          <p:cNvPr id="214" name="Text"/>
          <p:cNvSpPr/>
          <p:nvPr/>
        </p:nvSpPr>
        <p:spPr>
          <a:xfrm>
            <a:off x="685800" y="6553200"/>
            <a:ext cx="8191500" cy="142875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900" b="0" i="0">
                <a:solidFill>
                  <a:srgbClr val="97999B"/>
                </a:solidFill>
                <a:latin typeface="IBM Plex Mono"/>
              </a:rPr>
              <a:t>CIAR · estado técnico · 26.08.2026 · fuente: PLAN_DASHBOARD_TENDENCIAS.md, dashboard/consultas.py, frontend/src/components/Dashboard.jsx</a:t>
            </a:r>
            <a:endParaRPr lang="es-PE" sz="900"/>
          </a:p>
        </p:txBody>
      </p:sp>
      <p:sp>
        <p:nvSpPr>
          <p:cNvPr id="215" name="Text"/>
          <p:cNvSpPr/>
          <p:nvPr/>
        </p:nvSpPr>
        <p:spPr>
          <a:xfrm>
            <a:off x="10763250" y="6553200"/>
            <a:ext cx="742950" cy="142875"/>
          </a:xfrm>
          <a:noFill/>
          <a:ln>
            <a:noFill/>
          </a:ln>
        </p:spPr>
        <p:txBody>
          <a:bodyPr lIns="0" tIns="0" rIns="0" bIns="0" anchor="mid"/>
          <a:lstStyle/>
          <a:p>
            <a:pPr algn="r" lvl="0">
              <a:buNone/>
            </a:pPr>
            <a:r>
              <a:rPr lang="es-PE" sz="1000" b="1" i="0">
                <a:solidFill>
                  <a:srgbClr val="FF5117"/>
                </a:solidFill>
                <a:latin typeface="Roboto"/>
              </a:rPr>
              <a:t>ULIMA</a:t>
            </a:r>
            <a:endParaRPr lang="es-PE"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</a:xfrm>
        <a:prstGeom prst="rect">
          <a:avLst/>
        </a:prstGeom>
      </p:grpSpPr>
      <p:sp>
        <p:nvSpPr>
          <p:cNvPr id="216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</p:sp>
      <p:sp>
        <p:nvSpPr>
          <p:cNvPr id="217" name="Slide title"/>
          <p:cNvSpPr/>
          <p:nvPr/>
        </p:nvSpPr>
        <p:spPr>
          <a:xfrm>
            <a:off x="685800" y="533400"/>
            <a:ext cx="10477500" cy="514350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3400" b="1" i="0">
                <a:solidFill>
                  <a:srgbClr val="111111"/>
                </a:solidFill>
                <a:latin typeface="Roboto"/>
              </a:rPr>
              <a:t>El normalizador convierte documentos en evidencia publicable</a:t>
            </a:r>
            <a:endParaRPr lang="es-PE" sz="3400"/>
          </a:p>
        </p:txBody>
      </p:sp>
      <p:sp>
        <p:nvSpPr>
          <p:cNvPr id="218" name="Text"/>
          <p:cNvSpPr/>
          <p:nvPr/>
        </p:nvSpPr>
        <p:spPr>
          <a:xfrm>
            <a:off x="704850" y="1076325"/>
            <a:ext cx="9334500" cy="247650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1500" b="0" i="0">
                <a:solidFill>
                  <a:srgbClr val="97999B"/>
                </a:solidFill>
                <a:latin typeface="Roboto"/>
              </a:rPr>
              <a:t>La publicación es un proceso con revisión y release gate</a:t>
            </a:r>
            <a:endParaRPr lang="es-PE" sz="1500"/>
          </a:p>
        </p:txBody>
      </p:sp>
      <p:sp>
        <p:nvSpPr>
          <p:cNvPr id="219" name="Rule"/>
          <p:cNvSpPr/>
          <p:nvPr/>
        </p:nvSpPr>
        <p:spPr>
          <a:xfrm rot="0">
            <a:off x="685800" y="1428750"/>
            <a:ext cx="10820400" cy="9525"/>
          </a:xfrm>
          <a:prstGeom prst="rect">
            <a:avLst/>
          </a:prstGeom>
          <a:noFill/>
          <a:ln w="9525">
            <a:solidFill>
              <a:srgbClr val="E4E4E7"/>
            </a:solidFill>
          </a:ln>
        </p:spPr>
      </p:sp>
      <p:sp>
        <p:nvSpPr>
          <p:cNvPr id="220" name="Text"/>
          <p:cNvSpPr/>
          <p:nvPr/>
        </p:nvSpPr>
        <p:spPr>
          <a:xfrm>
            <a:off x="704850" y="1733550"/>
            <a:ext cx="10858500" cy="285750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2300" b="1" i="0">
                <a:solidFill>
                  <a:srgbClr val="111111"/>
                </a:solidFill>
                <a:latin typeface="Lusitana"/>
              </a:rPr>
              <a:t>Fuente → extracción → análisis → evidencia → decisión → importación</a:t>
            </a:r>
            <a:endParaRPr lang="es-PE" sz="2300"/>
          </a:p>
        </p:txBody>
      </p:sp>
      <p:sp>
        <p:nvSpPr>
          <p:cNvPr id="221" name="Architecture node"/>
          <p:cNvSpPr/>
          <p:nvPr/>
        </p:nvSpPr>
        <p:spPr>
          <a:xfrm>
            <a:off x="704850" y="2476500"/>
            <a:ext cx="1428750" cy="590550"/>
          </a:xfrm>
          <a:prstGeom prst="roundRect">
            <a:avLst/>
          </a:prstGeom>
          <a:solidFill>
            <a:srgbClr val="F1F1F3"/>
          </a:solidFill>
          <a:ln>
            <a:noFill/>
          </a:ln>
        </p:spPr>
      </p:sp>
      <p:sp>
        <p:nvSpPr>
          <p:cNvPr id="222" name="Node accent"/>
          <p:cNvSpPr/>
          <p:nvPr/>
        </p:nvSpPr>
        <p:spPr>
          <a:xfrm>
            <a:off x="704850" y="2476500"/>
            <a:ext cx="47625" cy="590550"/>
          </a:xfrm>
          <a:prstGeom prst="rect">
            <a:avLst/>
          </a:prstGeom>
          <a:solidFill>
            <a:srgbClr val="00C5D6"/>
          </a:solidFill>
          <a:ln>
            <a:noFill/>
          </a:ln>
        </p:spPr>
      </p:sp>
      <p:sp>
        <p:nvSpPr>
          <p:cNvPr id="223" name="Text"/>
          <p:cNvSpPr/>
          <p:nvPr/>
        </p:nvSpPr>
        <p:spPr>
          <a:xfrm>
            <a:off x="838200" y="2495550"/>
            <a:ext cx="1219200" cy="552450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1400" b="1" i="0">
                <a:solidFill>
                  <a:srgbClr val="111111"/>
                </a:solidFill>
                <a:latin typeface="Roboto"/>
              </a:rPr>
              <a:t>XLSX / DOCX</a:t>
            </a:r>
            <a:endParaRPr lang="es-PE" sz="1400"/>
          </a:p>
          <a:p>
            <a:pPr algn="l" lvl="0">
              <a:buNone/>
            </a:pPr>
            <a:r>
              <a:rPr lang="es-PE" sz="1400" b="1" i="0">
                <a:solidFill>
                  <a:srgbClr val="111111"/>
                </a:solidFill>
                <a:latin typeface="Roboto"/>
              </a:rPr>
              <a:t>PDF / ZIP</a:t>
            </a:r>
            <a:endParaRPr lang="es-PE" sz="1400"/>
          </a:p>
        </p:txBody>
      </p:sp>
      <p:sp>
        <p:nvSpPr>
          <p:cNvPr id="224" name="Architecture node"/>
          <p:cNvSpPr/>
          <p:nvPr/>
        </p:nvSpPr>
        <p:spPr>
          <a:xfrm>
            <a:off x="2476500" y="2476500"/>
            <a:ext cx="1428750" cy="590550"/>
          </a:xfrm>
          <a:prstGeom prst="roundRect">
            <a:avLst/>
          </a:prstGeom>
          <a:solidFill>
            <a:srgbClr val="F1F1F3"/>
          </a:solidFill>
          <a:ln>
            <a:noFill/>
          </a:ln>
        </p:spPr>
      </p:sp>
      <p:sp>
        <p:nvSpPr>
          <p:cNvPr id="225" name="Node accent"/>
          <p:cNvSpPr/>
          <p:nvPr/>
        </p:nvSpPr>
        <p:spPr>
          <a:xfrm>
            <a:off x="2476500" y="2476500"/>
            <a:ext cx="47625" cy="590550"/>
          </a:xfrm>
          <a:prstGeom prst="rect">
            <a:avLst/>
          </a:prstGeom>
          <a:solidFill>
            <a:srgbClr val="00C5D6"/>
          </a:solidFill>
          <a:ln>
            <a:noFill/>
          </a:ln>
        </p:spPr>
      </p:sp>
      <p:sp>
        <p:nvSpPr>
          <p:cNvPr id="226" name="Text"/>
          <p:cNvSpPr/>
          <p:nvPr/>
        </p:nvSpPr>
        <p:spPr>
          <a:xfrm>
            <a:off x="2609850" y="2495550"/>
            <a:ext cx="1219200" cy="552450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1400" b="1" i="0">
                <a:solidFill>
                  <a:srgbClr val="111111"/>
                </a:solidFill>
                <a:latin typeface="Roboto"/>
              </a:rPr>
              <a:t>Validación</a:t>
            </a:r>
            <a:endParaRPr lang="es-PE" sz="1400"/>
          </a:p>
          <a:p>
            <a:pPr algn="l" lvl="0">
              <a:buNone/>
            </a:pPr>
            <a:r>
              <a:rPr lang="es-PE" sz="1400" b="1" i="0">
                <a:solidFill>
                  <a:srgbClr val="111111"/>
                </a:solidFill>
                <a:latin typeface="Roboto"/>
              </a:rPr>
              <a:t>acotada</a:t>
            </a:r>
            <a:endParaRPr lang="es-PE" sz="1400"/>
          </a:p>
        </p:txBody>
      </p:sp>
      <p:sp>
        <p:nvSpPr>
          <p:cNvPr id="227" name="Architecture node"/>
          <p:cNvSpPr/>
          <p:nvPr/>
        </p:nvSpPr>
        <p:spPr>
          <a:xfrm>
            <a:off x="4248150" y="2476500"/>
            <a:ext cx="1428750" cy="590550"/>
          </a:xfrm>
          <a:prstGeom prst="roundRect">
            <a:avLst/>
          </a:prstGeom>
          <a:solidFill>
            <a:srgbClr val="F1F1F3"/>
          </a:solidFill>
          <a:ln>
            <a:noFill/>
          </a:ln>
        </p:spPr>
      </p:sp>
      <p:sp>
        <p:nvSpPr>
          <p:cNvPr id="228" name="Node accent"/>
          <p:cNvSpPr/>
          <p:nvPr/>
        </p:nvSpPr>
        <p:spPr>
          <a:xfrm>
            <a:off x="4248150" y="2476500"/>
            <a:ext cx="47625" cy="590550"/>
          </a:xfrm>
          <a:prstGeom prst="rect">
            <a:avLst/>
          </a:prstGeom>
          <a:solidFill>
            <a:srgbClr val="FF5117"/>
          </a:solidFill>
          <a:ln>
            <a:noFill/>
          </a:ln>
        </p:spPr>
      </p:sp>
      <p:sp>
        <p:nvSpPr>
          <p:cNvPr id="229" name="Text"/>
          <p:cNvSpPr/>
          <p:nvPr/>
        </p:nvSpPr>
        <p:spPr>
          <a:xfrm>
            <a:off x="4381500" y="2495550"/>
            <a:ext cx="1219200" cy="552450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1400" b="1" i="0">
                <a:solidFill>
                  <a:srgbClr val="111111"/>
                </a:solidFill>
                <a:latin typeface="Roboto"/>
              </a:rPr>
              <a:t>LLM + reglas</a:t>
            </a:r>
            <a:endParaRPr lang="es-PE" sz="1400"/>
          </a:p>
          <a:p>
            <a:pPr algn="l" lvl="0">
              <a:buNone/>
            </a:pPr>
            <a:r>
              <a:rPr lang="es-PE" sz="1400" b="1" i="0">
                <a:solidFill>
                  <a:srgbClr val="111111"/>
                </a:solidFill>
                <a:latin typeface="Roboto"/>
              </a:rPr>
              <a:t>deterministas</a:t>
            </a:r>
            <a:endParaRPr lang="es-PE" sz="1400"/>
          </a:p>
        </p:txBody>
      </p:sp>
      <p:sp>
        <p:nvSpPr>
          <p:cNvPr id="230" name="Architecture node"/>
          <p:cNvSpPr/>
          <p:nvPr/>
        </p:nvSpPr>
        <p:spPr>
          <a:xfrm>
            <a:off x="6019800" y="2476500"/>
            <a:ext cx="1428750" cy="590550"/>
          </a:xfrm>
          <a:prstGeom prst="roundRect">
            <a:avLst/>
          </a:prstGeom>
          <a:solidFill>
            <a:srgbClr val="F1F1F3"/>
          </a:solidFill>
          <a:ln>
            <a:noFill/>
          </a:ln>
        </p:spPr>
      </p:sp>
      <p:sp>
        <p:nvSpPr>
          <p:cNvPr id="231" name="Node accent"/>
          <p:cNvSpPr/>
          <p:nvPr/>
        </p:nvSpPr>
        <p:spPr>
          <a:xfrm>
            <a:off x="6019800" y="2476500"/>
            <a:ext cx="47625" cy="590550"/>
          </a:xfrm>
          <a:prstGeom prst="rect">
            <a:avLst/>
          </a:prstGeom>
          <a:solidFill>
            <a:srgbClr val="00C78B"/>
          </a:solidFill>
          <a:ln>
            <a:noFill/>
          </a:ln>
        </p:spPr>
      </p:sp>
      <p:sp>
        <p:nvSpPr>
          <p:cNvPr id="232" name="Text"/>
          <p:cNvSpPr/>
          <p:nvPr/>
        </p:nvSpPr>
        <p:spPr>
          <a:xfrm>
            <a:off x="6153150" y="2495550"/>
            <a:ext cx="1219200" cy="552450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1400" b="1" i="0">
                <a:solidFill>
                  <a:srgbClr val="111111"/>
                </a:solidFill>
                <a:latin typeface="Roboto"/>
              </a:rPr>
              <a:t>Evidencia +</a:t>
            </a:r>
            <a:endParaRPr lang="es-PE" sz="1400"/>
          </a:p>
          <a:p>
            <a:pPr algn="l" lvl="0">
              <a:buNone/>
            </a:pPr>
            <a:r>
              <a:rPr lang="es-PE" sz="1400" b="1" i="0">
                <a:solidFill>
                  <a:srgbClr val="111111"/>
                </a:solidFill>
                <a:latin typeface="Roboto"/>
              </a:rPr>
              <a:t>proveniencia</a:t>
            </a:r>
            <a:endParaRPr lang="es-PE" sz="1400"/>
          </a:p>
        </p:txBody>
      </p:sp>
      <p:sp>
        <p:nvSpPr>
          <p:cNvPr id="233" name="Architecture node"/>
          <p:cNvSpPr/>
          <p:nvPr/>
        </p:nvSpPr>
        <p:spPr>
          <a:xfrm>
            <a:off x="7791450" y="2476500"/>
            <a:ext cx="1428750" cy="590550"/>
          </a:xfrm>
          <a:prstGeom prst="roundRect">
            <a:avLst/>
          </a:prstGeom>
          <a:solidFill>
            <a:srgbClr val="F1F1F3"/>
          </a:solidFill>
          <a:ln>
            <a:noFill/>
          </a:ln>
        </p:spPr>
      </p:sp>
      <p:sp>
        <p:nvSpPr>
          <p:cNvPr id="234" name="Node accent"/>
          <p:cNvSpPr/>
          <p:nvPr/>
        </p:nvSpPr>
        <p:spPr>
          <a:xfrm>
            <a:off x="7791450" y="2476500"/>
            <a:ext cx="47625" cy="590550"/>
          </a:xfrm>
          <a:prstGeom prst="rect">
            <a:avLst/>
          </a:prstGeom>
          <a:solidFill>
            <a:srgbClr val="FFA000"/>
          </a:solidFill>
          <a:ln>
            <a:noFill/>
          </a:ln>
        </p:spPr>
      </p:sp>
      <p:sp>
        <p:nvSpPr>
          <p:cNvPr id="235" name="Text"/>
          <p:cNvSpPr/>
          <p:nvPr/>
        </p:nvSpPr>
        <p:spPr>
          <a:xfrm>
            <a:off x="7924800" y="2495550"/>
            <a:ext cx="1219200" cy="552450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1400" b="1" i="0">
                <a:solidFill>
                  <a:srgbClr val="111111"/>
                </a:solidFill>
                <a:latin typeface="Roboto"/>
              </a:rPr>
              <a:t>Pendientes +</a:t>
            </a:r>
            <a:endParaRPr lang="es-PE" sz="1400"/>
          </a:p>
          <a:p>
            <a:pPr algn="l" lvl="0">
              <a:buNone/>
            </a:pPr>
            <a:r>
              <a:rPr lang="es-PE" sz="1400" b="1" i="0">
                <a:solidFill>
                  <a:srgbClr val="111111"/>
                </a:solidFill>
                <a:latin typeface="Roboto"/>
              </a:rPr>
              <a:t>cuarentena</a:t>
            </a:r>
            <a:endParaRPr lang="es-PE" sz="1400"/>
          </a:p>
        </p:txBody>
      </p:sp>
      <p:sp>
        <p:nvSpPr>
          <p:cNvPr id="236" name="Architecture node"/>
          <p:cNvSpPr/>
          <p:nvPr/>
        </p:nvSpPr>
        <p:spPr>
          <a:xfrm>
            <a:off x="9563100" y="2476500"/>
            <a:ext cx="1714500" cy="590550"/>
          </a:xfrm>
          <a:prstGeom prst="roundRect">
            <a:avLst/>
          </a:prstGeom>
          <a:solidFill>
            <a:srgbClr val="111111"/>
          </a:solidFill>
          <a:ln>
            <a:noFill/>
          </a:ln>
        </p:spPr>
      </p:sp>
      <p:sp>
        <p:nvSpPr>
          <p:cNvPr id="237" name="Node accent"/>
          <p:cNvSpPr/>
          <p:nvPr/>
        </p:nvSpPr>
        <p:spPr>
          <a:xfrm>
            <a:off x="9563100" y="2476500"/>
            <a:ext cx="47625" cy="590550"/>
          </a:xfrm>
          <a:prstGeom prst="rect">
            <a:avLst/>
          </a:prstGeom>
          <a:solidFill>
            <a:srgbClr val="00C78B"/>
          </a:solidFill>
          <a:ln>
            <a:noFill/>
          </a:ln>
        </p:spPr>
      </p:sp>
      <p:sp>
        <p:nvSpPr>
          <p:cNvPr id="238" name="Text"/>
          <p:cNvSpPr/>
          <p:nvPr/>
        </p:nvSpPr>
        <p:spPr>
          <a:xfrm>
            <a:off x="9696450" y="2495550"/>
            <a:ext cx="1504950" cy="552450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1400" b="1" i="0">
                <a:solidFill>
                  <a:srgbClr val="FAFAFA"/>
                </a:solidFill>
                <a:latin typeface="Roboto"/>
              </a:rPr>
              <a:t>ALLOW_IMPORT</a:t>
            </a:r>
            <a:endParaRPr lang="es-PE" sz="1400"/>
          </a:p>
        </p:txBody>
      </p:sp>
      <p:sp>
        <p:nvSpPr>
          <p:cNvPr id="239" name="Rule"/>
          <p:cNvSpPr/>
          <p:nvPr/>
        </p:nvSpPr>
        <p:spPr>
          <a:xfrm rot="0">
            <a:off x="2133600" y="2771775"/>
            <a:ext cx="342900" cy="19050"/>
          </a:xfrm>
          <a:prstGeom prst="rect">
            <a:avLst/>
          </a:prstGeom>
          <a:noFill/>
          <a:ln w="19050">
            <a:solidFill>
              <a:srgbClr val="00C5D6"/>
            </a:solidFill>
          </a:ln>
        </p:spPr>
      </p:sp>
      <p:sp>
        <p:nvSpPr>
          <p:cNvPr id="240" name="Dot"/>
          <p:cNvSpPr/>
          <p:nvPr/>
        </p:nvSpPr>
        <p:spPr>
          <a:xfrm>
            <a:off x="2438400" y="2733675"/>
            <a:ext cx="76200" cy="76200"/>
          </a:xfrm>
          <a:prstGeom prst="ellipse">
            <a:avLst/>
          </a:prstGeom>
          <a:solidFill>
            <a:srgbClr val="00C5D6"/>
          </a:solidFill>
          <a:ln>
            <a:noFill/>
          </a:ln>
        </p:spPr>
      </p:sp>
      <p:sp>
        <p:nvSpPr>
          <p:cNvPr id="241" name="Rule"/>
          <p:cNvSpPr/>
          <p:nvPr/>
        </p:nvSpPr>
        <p:spPr>
          <a:xfrm rot="0">
            <a:off x="3905250" y="2771775"/>
            <a:ext cx="342900" cy="19050"/>
          </a:xfrm>
          <a:prstGeom prst="rect">
            <a:avLst/>
          </a:prstGeom>
          <a:noFill/>
          <a:ln w="19050">
            <a:solidFill>
              <a:srgbClr val="00C5D6"/>
            </a:solidFill>
          </a:ln>
        </p:spPr>
      </p:sp>
      <p:sp>
        <p:nvSpPr>
          <p:cNvPr id="242" name="Dot"/>
          <p:cNvSpPr/>
          <p:nvPr/>
        </p:nvSpPr>
        <p:spPr>
          <a:xfrm>
            <a:off x="4210050" y="2733675"/>
            <a:ext cx="76200" cy="76200"/>
          </a:xfrm>
          <a:prstGeom prst="ellipse">
            <a:avLst/>
          </a:prstGeom>
          <a:solidFill>
            <a:srgbClr val="00C5D6"/>
          </a:solidFill>
          <a:ln>
            <a:noFill/>
          </a:ln>
        </p:spPr>
      </p:sp>
      <p:sp>
        <p:nvSpPr>
          <p:cNvPr id="243" name="Rule"/>
          <p:cNvSpPr/>
          <p:nvPr/>
        </p:nvSpPr>
        <p:spPr>
          <a:xfrm rot="0">
            <a:off x="5676900" y="2771775"/>
            <a:ext cx="342900" cy="19050"/>
          </a:xfrm>
          <a:prstGeom prst="rect">
            <a:avLst/>
          </a:prstGeom>
          <a:noFill/>
          <a:ln w="19050">
            <a:solidFill>
              <a:srgbClr val="FF5117"/>
            </a:solidFill>
          </a:ln>
        </p:spPr>
      </p:sp>
      <p:sp>
        <p:nvSpPr>
          <p:cNvPr id="244" name="Dot"/>
          <p:cNvSpPr/>
          <p:nvPr/>
        </p:nvSpPr>
        <p:spPr>
          <a:xfrm>
            <a:off x="5981700" y="2733675"/>
            <a:ext cx="76200" cy="76200"/>
          </a:xfrm>
          <a:prstGeom prst="ellipse">
            <a:avLst/>
          </a:prstGeom>
          <a:solidFill>
            <a:srgbClr val="FF5117"/>
          </a:solidFill>
          <a:ln>
            <a:noFill/>
          </a:ln>
        </p:spPr>
      </p:sp>
      <p:sp>
        <p:nvSpPr>
          <p:cNvPr id="245" name="Rule"/>
          <p:cNvSpPr/>
          <p:nvPr/>
        </p:nvSpPr>
        <p:spPr>
          <a:xfrm rot="0">
            <a:off x="7448550" y="2771775"/>
            <a:ext cx="342900" cy="19050"/>
          </a:xfrm>
          <a:prstGeom prst="rect">
            <a:avLst/>
          </a:prstGeom>
          <a:noFill/>
          <a:ln w="19050">
            <a:solidFill>
              <a:srgbClr val="00C78B"/>
            </a:solidFill>
          </a:ln>
        </p:spPr>
      </p:sp>
      <p:sp>
        <p:nvSpPr>
          <p:cNvPr id="246" name="Dot"/>
          <p:cNvSpPr/>
          <p:nvPr/>
        </p:nvSpPr>
        <p:spPr>
          <a:xfrm>
            <a:off x="7753350" y="2733675"/>
            <a:ext cx="76200" cy="76200"/>
          </a:xfrm>
          <a:prstGeom prst="ellipse">
            <a:avLst/>
          </a:prstGeom>
          <a:solidFill>
            <a:srgbClr val="00C78B"/>
          </a:solidFill>
          <a:ln>
            <a:noFill/>
          </a:ln>
        </p:spPr>
      </p:sp>
      <p:sp>
        <p:nvSpPr>
          <p:cNvPr id="247" name="Rule"/>
          <p:cNvSpPr/>
          <p:nvPr/>
        </p:nvSpPr>
        <p:spPr>
          <a:xfrm rot="0">
            <a:off x="9220200" y="2771775"/>
            <a:ext cx="342900" cy="19050"/>
          </a:xfrm>
          <a:prstGeom prst="rect">
            <a:avLst/>
          </a:prstGeom>
          <a:noFill/>
          <a:ln w="19050">
            <a:solidFill>
              <a:srgbClr val="FFA000"/>
            </a:solidFill>
          </a:ln>
        </p:spPr>
      </p:sp>
      <p:sp>
        <p:nvSpPr>
          <p:cNvPr id="248" name="Dot"/>
          <p:cNvSpPr/>
          <p:nvPr/>
        </p:nvSpPr>
        <p:spPr>
          <a:xfrm>
            <a:off x="9525000" y="2733675"/>
            <a:ext cx="76200" cy="76200"/>
          </a:xfrm>
          <a:prstGeom prst="ellipse">
            <a:avLst/>
          </a:prstGeom>
          <a:solidFill>
            <a:srgbClr val="FFA000"/>
          </a:solidFill>
          <a:ln>
            <a:noFill/>
          </a:ln>
        </p:spPr>
      </p:sp>
      <p:sp>
        <p:nvSpPr>
          <p:cNvPr id="249" name="Text"/>
          <p:cNvSpPr/>
          <p:nvPr/>
        </p:nvSpPr>
        <p:spPr>
          <a:xfrm>
            <a:off x="704850" y="3857625"/>
            <a:ext cx="4762500" cy="228600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1200" b="1" i="0">
                <a:solidFill>
                  <a:srgbClr val="00C78B"/>
                </a:solidFill>
                <a:latin typeface="IBM Plex Mono"/>
              </a:rPr>
              <a:t>SALIDAS CANÓNICAS</a:t>
            </a:r>
            <a:endParaRPr lang="es-PE" sz="1200"/>
          </a:p>
        </p:txBody>
      </p:sp>
      <p:sp>
        <p:nvSpPr>
          <p:cNvPr id="250" name="Text"/>
          <p:cNvSpPr/>
          <p:nvPr/>
        </p:nvSpPr>
        <p:spPr>
          <a:xfrm>
            <a:off x="704850" y="4229100"/>
            <a:ext cx="4857750" cy="1095375"/>
          </a:xfrm>
          <a:noFill/>
          <a:ln>
            <a:noFill/>
          </a:ln>
        </p:spPr>
        <p:txBody>
          <a:bodyPr lIns="0" tIns="0" rIns="0" bIns="0" anchor="top"/>
          <a:lstStyle/>
          <a:p>
            <a:pPr algn="l" lvl="0">
              <a:buNone/>
            </a:pPr>
            <a:r>
              <a:rPr lang="es-PE" sz="1700" b="0" i="0">
                <a:solidFill>
                  <a:srgbClr val="202124"/>
                </a:solidFill>
                <a:latin typeface="Roboto"/>
              </a:rPr>
              <a:t>4 CSV: competencias, habilidades, herramientas y cobertura curricular.</a:t>
            </a:r>
            <a:endParaRPr lang="es-PE" sz="1700"/>
          </a:p>
          <a:p>
            <a:pPr algn="l" lvl="0">
              <a:buNone/>
            </a:pPr>
            <a:r>
              <a:rPr lang="es-PE" sz="1700" b="0" i="0">
                <a:solidFill>
                  <a:srgbClr val="202124"/>
                </a:solidFill>
                <a:latin typeface="Roboto"/>
              </a:rPr>
              <a:t/>
            </a:r>
            <a:endParaRPr lang="es-PE" sz="1700"/>
          </a:p>
          <a:p>
            <a:pPr algn="l" lvl="0">
              <a:buNone/>
            </a:pPr>
            <a:r>
              <a:rPr lang="es-PE" sz="1700" b="0" i="0">
                <a:solidFill>
                  <a:srgbClr val="202124"/>
                </a:solidFill>
                <a:latin typeface="Roboto"/>
              </a:rPr>
              <a:t>JSONL de evidencia, pendientes, decisiones, candidatos y release gate.</a:t>
            </a:r>
            <a:endParaRPr lang="es-PE" sz="1700"/>
          </a:p>
        </p:txBody>
      </p:sp>
      <p:sp>
        <p:nvSpPr>
          <p:cNvPr id="251" name="Text"/>
          <p:cNvSpPr/>
          <p:nvPr/>
        </p:nvSpPr>
        <p:spPr>
          <a:xfrm>
            <a:off x="6572250" y="3857625"/>
            <a:ext cx="4762500" cy="228600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1200" b="1" i="0">
                <a:solidFill>
                  <a:srgbClr val="FFA000"/>
                </a:solidFill>
                <a:latin typeface="IBM Plex Mono"/>
              </a:rPr>
              <a:t>REGLAS DE PUBLICACIÓN</a:t>
            </a:r>
            <a:endParaRPr lang="es-PE" sz="1200"/>
          </a:p>
        </p:txBody>
      </p:sp>
      <p:sp>
        <p:nvSpPr>
          <p:cNvPr id="252" name="Text"/>
          <p:cNvSpPr/>
          <p:nvPr/>
        </p:nvSpPr>
        <p:spPr>
          <a:xfrm>
            <a:off x="6572250" y="4229100"/>
            <a:ext cx="4762500" cy="1095375"/>
          </a:xfrm>
          <a:noFill/>
          <a:ln>
            <a:noFill/>
          </a:ln>
        </p:spPr>
        <p:txBody>
          <a:bodyPr lIns="0" tIns="0" rIns="0" bIns="0" anchor="top"/>
          <a:lstStyle/>
          <a:p>
            <a:pPr algn="l" lvl="0">
              <a:buNone/>
            </a:pPr>
            <a:r>
              <a:rPr lang="es-PE" sz="1700" b="0" i="0">
                <a:solidFill>
                  <a:srgbClr val="202124"/>
                </a:solidFill>
                <a:latin typeface="Roboto"/>
              </a:rPr>
              <a:t>Duplicado exacto: deduplicación determinista.</a:t>
            </a:r>
            <a:endParaRPr lang="es-PE" sz="1700"/>
          </a:p>
          <a:p>
            <a:pPr algn="l" lvl="0">
              <a:buNone/>
            </a:pPr>
            <a:r>
              <a:rPr lang="es-PE" sz="1700" b="0" i="0">
                <a:solidFill>
                  <a:srgbClr val="202124"/>
                </a:solidFill>
                <a:latin typeface="Roboto"/>
              </a:rPr>
              <a:t>Semántico/sospechoso: revisión humana.</a:t>
            </a:r>
            <a:endParaRPr lang="es-PE" sz="1700"/>
          </a:p>
          <a:p>
            <a:pPr algn="l" lvl="0">
              <a:buNone/>
            </a:pPr>
            <a:r>
              <a:rPr lang="es-PE" sz="1700" b="0" i="0">
                <a:solidFill>
                  <a:srgbClr val="202124"/>
                </a:solidFill>
                <a:latin typeface="Roboto"/>
              </a:rPr>
              <a:t>Embeddings: opt-in, por carrera@periodo, solo sugerencias.</a:t>
            </a:r>
            <a:endParaRPr lang="es-PE" sz="1700"/>
          </a:p>
        </p:txBody>
      </p:sp>
      <p:sp>
        <p:nvSpPr>
          <p:cNvPr id="253" name="Rule"/>
          <p:cNvSpPr/>
          <p:nvPr/>
        </p:nvSpPr>
        <p:spPr>
          <a:xfrm rot="0">
            <a:off x="685800" y="6486525"/>
            <a:ext cx="10820400" cy="9525"/>
          </a:xfrm>
          <a:prstGeom prst="rect">
            <a:avLst/>
          </a:prstGeom>
          <a:noFill/>
          <a:ln w="9525">
            <a:solidFill>
              <a:srgbClr val="E4E4E7"/>
            </a:solidFill>
          </a:ln>
        </p:spPr>
      </p:sp>
      <p:sp>
        <p:nvSpPr>
          <p:cNvPr id="254" name="Text"/>
          <p:cNvSpPr/>
          <p:nvPr/>
        </p:nvSpPr>
        <p:spPr>
          <a:xfrm>
            <a:off x="685800" y="6553200"/>
            <a:ext cx="8191500" cy="142875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900" b="0" i="0">
                <a:solidFill>
                  <a:srgbClr val="97999B"/>
                </a:solidFill>
                <a:latin typeface="IBM Plex Mono"/>
              </a:rPr>
              <a:t>CIAR · estado técnico · 26.08.2026 · fuente: normalizador, README backend, release_gate y neo4j_importacion.py</a:t>
            </a:r>
            <a:endParaRPr lang="es-PE" sz="900"/>
          </a:p>
        </p:txBody>
      </p:sp>
      <p:sp>
        <p:nvSpPr>
          <p:cNvPr id="255" name="Text"/>
          <p:cNvSpPr/>
          <p:nvPr/>
        </p:nvSpPr>
        <p:spPr>
          <a:xfrm>
            <a:off x="10763250" y="6553200"/>
            <a:ext cx="742950" cy="142875"/>
          </a:xfrm>
          <a:noFill/>
          <a:ln>
            <a:noFill/>
          </a:ln>
        </p:spPr>
        <p:txBody>
          <a:bodyPr lIns="0" tIns="0" rIns="0" bIns="0" anchor="mid"/>
          <a:lstStyle/>
          <a:p>
            <a:pPr algn="r" lvl="0">
              <a:buNone/>
            </a:pPr>
            <a:r>
              <a:rPr lang="es-PE" sz="1000" b="1" i="0">
                <a:solidFill>
                  <a:srgbClr val="FF5117"/>
                </a:solidFill>
                <a:latin typeface="Roboto"/>
              </a:rPr>
              <a:t>ULIMA</a:t>
            </a:r>
            <a:endParaRPr lang="es-PE"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</a:xfrm>
        <a:prstGeom prst="rect">
          <a:avLst/>
        </a:prstGeom>
      </p:grpSpPr>
      <p:sp>
        <p:nvSpPr>
          <p:cNvPr id="256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</p:sp>
      <p:sp>
        <p:nvSpPr>
          <p:cNvPr id="257" name="Slide title"/>
          <p:cNvSpPr/>
          <p:nvPr/>
        </p:nvSpPr>
        <p:spPr>
          <a:xfrm>
            <a:off x="685800" y="533400"/>
            <a:ext cx="10477500" cy="514350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3400" b="1" i="0">
                <a:solidFill>
                  <a:srgbClr val="111111"/>
                </a:solidFill>
                <a:latin typeface="Roboto"/>
              </a:rPr>
              <a:t>La calidad analítica depende también de no sobreinterpretar el grafo</a:t>
            </a:r>
            <a:endParaRPr lang="es-PE" sz="3400"/>
          </a:p>
        </p:txBody>
      </p:sp>
      <p:sp>
        <p:nvSpPr>
          <p:cNvPr id="258" name="Text"/>
          <p:cNvSpPr/>
          <p:nvPr/>
        </p:nvSpPr>
        <p:spPr>
          <a:xfrm>
            <a:off x="704850" y="1076325"/>
            <a:ext cx="9334500" cy="247650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1500" b="0" i="0">
                <a:solidFill>
                  <a:srgbClr val="97999B"/>
                </a:solidFill>
                <a:latin typeface="Roboto"/>
              </a:rPr>
              <a:t>El contrato semántico es parte de la arquitectura</a:t>
            </a:r>
            <a:endParaRPr lang="es-PE" sz="1500"/>
          </a:p>
        </p:txBody>
      </p:sp>
      <p:sp>
        <p:nvSpPr>
          <p:cNvPr id="259" name="Rule"/>
          <p:cNvSpPr/>
          <p:nvPr/>
        </p:nvSpPr>
        <p:spPr>
          <a:xfrm rot="0">
            <a:off x="685800" y="1428750"/>
            <a:ext cx="10820400" cy="9525"/>
          </a:xfrm>
          <a:prstGeom prst="rect">
            <a:avLst/>
          </a:prstGeom>
          <a:noFill/>
          <a:ln w="9525">
            <a:solidFill>
              <a:srgbClr val="E4E4E7"/>
            </a:solidFill>
          </a:ln>
        </p:spPr>
      </p:sp>
      <p:sp>
        <p:nvSpPr>
          <p:cNvPr id="260" name="Card"/>
          <p:cNvSpPr/>
          <p:nvPr/>
        </p:nvSpPr>
        <p:spPr>
          <a:xfrm>
            <a:off x="704850" y="1981200"/>
            <a:ext cx="3333750" cy="2857500"/>
          </a:xfrm>
          <a:prstGeom prst="roundRect">
            <a:avLst/>
          </a:prstGeom>
          <a:solidFill>
            <a:srgbClr val="F1F1F3"/>
          </a:solidFill>
          <a:ln>
            <a:noFill/>
          </a:ln>
        </p:spPr>
      </p:sp>
      <p:sp>
        <p:nvSpPr>
          <p:cNvPr id="261" name="Accent"/>
          <p:cNvSpPr/>
          <p:nvPr/>
        </p:nvSpPr>
        <p:spPr>
          <a:xfrm>
            <a:off x="704850" y="1981200"/>
            <a:ext cx="57150" cy="2857500"/>
          </a:xfrm>
          <a:prstGeom prst="rect">
            <a:avLst/>
          </a:prstGeom>
          <a:solidFill>
            <a:srgbClr val="00C78B"/>
          </a:solidFill>
          <a:ln>
            <a:noFill/>
          </a:ln>
        </p:spPr>
      </p:sp>
      <p:sp>
        <p:nvSpPr>
          <p:cNvPr id="262" name="Text"/>
          <p:cNvSpPr/>
          <p:nvPr/>
        </p:nvSpPr>
        <p:spPr>
          <a:xfrm>
            <a:off x="914400" y="2152650"/>
            <a:ext cx="2933700" cy="161925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1100" b="1" i="0">
                <a:solidFill>
                  <a:srgbClr val="00C78B"/>
                </a:solidFill>
                <a:latin typeface="IBM Plex Mono"/>
              </a:rPr>
              <a:t>SÍ PERMITE</a:t>
            </a:r>
            <a:endParaRPr lang="es-PE" sz="1100"/>
          </a:p>
        </p:txBody>
      </p:sp>
      <p:sp>
        <p:nvSpPr>
          <p:cNvPr id="263" name="Text"/>
          <p:cNvSpPr/>
          <p:nvPr/>
        </p:nvSpPr>
        <p:spPr>
          <a:xfrm>
            <a:off x="914400" y="2390775"/>
            <a:ext cx="2933700" cy="314325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2100" b="1" i="0">
                <a:solidFill>
                  <a:srgbClr val="111111"/>
                </a:solidFill>
                <a:latin typeface="Roboto"/>
              </a:rPr>
              <a:t>Observar patrones</a:t>
            </a:r>
            <a:endParaRPr lang="es-PE" sz="2100"/>
          </a:p>
        </p:txBody>
      </p:sp>
      <p:sp>
        <p:nvSpPr>
          <p:cNvPr id="264" name="Text"/>
          <p:cNvSpPr/>
          <p:nvPr/>
        </p:nvSpPr>
        <p:spPr>
          <a:xfrm>
            <a:off x="914400" y="2800350"/>
            <a:ext cx="2933700" cy="1876425"/>
          </a:xfrm>
          <a:noFill/>
          <a:ln>
            <a:noFill/>
          </a:ln>
        </p:spPr>
        <p:txBody>
          <a:bodyPr lIns="0" tIns="0" rIns="0" bIns="0" anchor="top"/>
          <a:lstStyle/>
          <a:p>
            <a:pPr algn="l" lvl="0">
              <a:buNone/>
            </a:pPr>
            <a:r>
              <a:rPr lang="es-PE" sz="1500" b="0" i="0">
                <a:solidFill>
                  <a:srgbClr val="202124"/>
                </a:solidFill>
                <a:latin typeface="Roboto"/>
              </a:rPr>
              <a:t>• contar ofertas publicadas</a:t>
            </a:r>
            <a:endParaRPr lang="es-PE" sz="1500"/>
          </a:p>
          <a:p>
            <a:pPr algn="l" lvl="0">
              <a:buNone/>
            </a:pPr>
            <a:r>
              <a:rPr lang="es-PE" sz="1500" b="0" i="0">
                <a:solidFill>
                  <a:srgbClr val="202124"/>
                </a:solidFill>
                <a:latin typeface="Roboto"/>
              </a:rPr>
              <a:t>• rankear carreras, empresas e industrias</a:t>
            </a:r>
            <a:endParaRPr lang="es-PE" sz="1500"/>
          </a:p>
          <a:p>
            <a:pPr algn="l" lvl="0">
              <a:buNone/>
            </a:pPr>
            <a:r>
              <a:rPr lang="es-PE" sz="1500" b="0" i="0">
                <a:solidFill>
                  <a:srgbClr val="202124"/>
                </a:solidFill>
                <a:latin typeface="Roboto"/>
              </a:rPr>
              <a:t>• identificar requisitos declarados</a:t>
            </a:r>
            <a:endParaRPr lang="es-PE" sz="1500"/>
          </a:p>
          <a:p>
            <a:pPr algn="l" lvl="0">
              <a:buNone/>
            </a:pPr>
            <a:r>
              <a:rPr lang="es-PE" sz="1500" b="0" i="0">
                <a:solidFill>
                  <a:srgbClr val="202124"/>
                </a:solidFill>
                <a:latin typeface="Roboto"/>
              </a:rPr>
              <a:t>• comparar cobertura curricular declarada</a:t>
            </a:r>
            <a:endParaRPr lang="es-PE" sz="1500"/>
          </a:p>
          <a:p>
            <a:pPr algn="l" lvl="0">
              <a:buNone/>
            </a:pPr>
            <a:r>
              <a:rPr lang="es-PE" sz="1500" b="0" i="0">
                <a:solidFill>
                  <a:srgbClr val="202124"/>
                </a:solidFill>
                <a:latin typeface="Roboto"/>
              </a:rPr>
              <a:t>• responder sobre entidades y relaciones existentes</a:t>
            </a:r>
            <a:endParaRPr lang="es-PE" sz="1500"/>
          </a:p>
        </p:txBody>
      </p:sp>
      <p:sp>
        <p:nvSpPr>
          <p:cNvPr id="265" name="Card"/>
          <p:cNvSpPr/>
          <p:nvPr/>
        </p:nvSpPr>
        <p:spPr>
          <a:xfrm>
            <a:off x="4429125" y="1981200"/>
            <a:ext cx="3333750" cy="2857500"/>
          </a:xfrm>
          <a:prstGeom prst="roundRect">
            <a:avLst/>
          </a:prstGeom>
          <a:solidFill>
            <a:srgbClr val="F1F1F3"/>
          </a:solidFill>
          <a:ln>
            <a:noFill/>
          </a:ln>
        </p:spPr>
      </p:sp>
      <p:sp>
        <p:nvSpPr>
          <p:cNvPr id="266" name="Accent"/>
          <p:cNvSpPr/>
          <p:nvPr/>
        </p:nvSpPr>
        <p:spPr>
          <a:xfrm>
            <a:off x="4429125" y="1981200"/>
            <a:ext cx="57150" cy="2857500"/>
          </a:xfrm>
          <a:prstGeom prst="rect">
            <a:avLst/>
          </a:prstGeom>
          <a:solidFill>
            <a:srgbClr val="FFA000"/>
          </a:solidFill>
          <a:ln>
            <a:noFill/>
          </a:ln>
        </p:spPr>
      </p:sp>
      <p:sp>
        <p:nvSpPr>
          <p:cNvPr id="267" name="Text"/>
          <p:cNvSpPr/>
          <p:nvPr/>
        </p:nvSpPr>
        <p:spPr>
          <a:xfrm>
            <a:off x="4638675" y="2152650"/>
            <a:ext cx="2933700" cy="161925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1100" b="1" i="0">
                <a:solidFill>
                  <a:srgbClr val="FFA000"/>
                </a:solidFill>
                <a:latin typeface="IBM Plex Mono"/>
              </a:rPr>
              <a:t>REQUIERE CUIDADO</a:t>
            </a:r>
            <a:endParaRPr lang="es-PE" sz="1100"/>
          </a:p>
        </p:txBody>
      </p:sp>
      <p:sp>
        <p:nvSpPr>
          <p:cNvPr id="268" name="Text"/>
          <p:cNvSpPr/>
          <p:nvPr/>
        </p:nvSpPr>
        <p:spPr>
          <a:xfrm>
            <a:off x="4638675" y="2390775"/>
            <a:ext cx="2933700" cy="314325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2100" b="1" i="0">
                <a:solidFill>
                  <a:srgbClr val="111111"/>
                </a:solidFill>
                <a:latin typeface="Roboto"/>
              </a:rPr>
              <a:t>Interpretar señales</a:t>
            </a:r>
            <a:endParaRPr lang="es-PE" sz="2100"/>
          </a:p>
        </p:txBody>
      </p:sp>
      <p:sp>
        <p:nvSpPr>
          <p:cNvPr id="269" name="Text"/>
          <p:cNvSpPr/>
          <p:nvPr/>
        </p:nvSpPr>
        <p:spPr>
          <a:xfrm>
            <a:off x="4638675" y="2800350"/>
            <a:ext cx="2933700" cy="1876425"/>
          </a:xfrm>
          <a:noFill/>
          <a:ln>
            <a:noFill/>
          </a:ln>
        </p:spPr>
        <p:txBody>
          <a:bodyPr lIns="0" tIns="0" rIns="0" bIns="0" anchor="top"/>
          <a:lstStyle/>
          <a:p>
            <a:pPr algn="l" lvl="0">
              <a:buNone/>
            </a:pPr>
            <a:r>
              <a:rPr lang="es-PE" sz="1500" b="0" i="0">
                <a:solidFill>
                  <a:srgbClr val="202124"/>
                </a:solidFill>
                <a:latin typeface="Roboto"/>
              </a:rPr>
              <a:t>• una oferta puede dirigirse a varias carreras</a:t>
            </a:r>
            <a:endParaRPr lang="es-PE" sz="1500"/>
          </a:p>
          <a:p>
            <a:pPr algn="l" lvl="0">
              <a:buNone/>
            </a:pPr>
            <a:r>
              <a:rPr lang="es-PE" sz="1500" b="0" i="0">
                <a:solidFill>
                  <a:srgbClr val="202124"/>
                </a:solidFill>
                <a:latin typeface="Roboto"/>
              </a:rPr>
              <a:t>• los porcentajes no suman necesariamente 100 %</a:t>
            </a:r>
            <a:endParaRPr lang="es-PE" sz="1500"/>
          </a:p>
          <a:p>
            <a:pPr algn="l" lvl="0">
              <a:buNone/>
            </a:pPr>
            <a:r>
              <a:rPr lang="es-PE" sz="1500" b="0" i="0">
                <a:solidFill>
                  <a:srgbClr val="202124"/>
                </a:solidFill>
                <a:latin typeface="Roboto"/>
              </a:rPr>
              <a:t>• una tabla vacía puede ser falta de cobertura</a:t>
            </a:r>
            <a:endParaRPr lang="es-PE" sz="1500"/>
          </a:p>
          <a:p>
            <a:pPr algn="l" lvl="0">
              <a:buNone/>
            </a:pPr>
            <a:r>
              <a:rPr lang="es-PE" sz="1500" b="0" i="0">
                <a:solidFill>
                  <a:srgbClr val="202124"/>
                </a:solidFill>
                <a:latin typeface="Roboto"/>
              </a:rPr>
              <a:t>• un título publicado no es una función normalizada</a:t>
            </a:r>
            <a:endParaRPr lang="es-PE" sz="1500"/>
          </a:p>
          <a:p>
            <a:pPr algn="l" lvl="0">
              <a:buNone/>
            </a:pPr>
            <a:r>
              <a:rPr lang="es-PE" sz="1500" b="0" i="0">
                <a:solidFill>
                  <a:srgbClr val="202124"/>
                </a:solidFill>
                <a:latin typeface="Roboto"/>
              </a:rPr>
              <a:t>• la cobertura no mide profundidad</a:t>
            </a:r>
            <a:endParaRPr lang="es-PE" sz="1500"/>
          </a:p>
        </p:txBody>
      </p:sp>
      <p:sp>
        <p:nvSpPr>
          <p:cNvPr id="270" name="Card"/>
          <p:cNvSpPr/>
          <p:nvPr/>
        </p:nvSpPr>
        <p:spPr>
          <a:xfrm>
            <a:off x="8153400" y="1981200"/>
            <a:ext cx="3333750" cy="2857500"/>
          </a:xfrm>
          <a:prstGeom prst="roundRect">
            <a:avLst/>
          </a:prstGeom>
          <a:solidFill>
            <a:srgbClr val="F1F1F3"/>
          </a:solidFill>
          <a:ln>
            <a:noFill/>
          </a:ln>
        </p:spPr>
      </p:sp>
      <p:sp>
        <p:nvSpPr>
          <p:cNvPr id="271" name="Accent"/>
          <p:cNvSpPr/>
          <p:nvPr/>
        </p:nvSpPr>
        <p:spPr>
          <a:xfrm>
            <a:off x="8153400" y="1981200"/>
            <a:ext cx="57150" cy="2857500"/>
          </a:xfrm>
          <a:prstGeom prst="rect">
            <a:avLst/>
          </a:prstGeom>
          <a:solidFill>
            <a:srgbClr val="FF5117"/>
          </a:solidFill>
          <a:ln>
            <a:noFill/>
          </a:ln>
        </p:spPr>
      </p:sp>
      <p:sp>
        <p:nvSpPr>
          <p:cNvPr id="272" name="Text"/>
          <p:cNvSpPr/>
          <p:nvPr/>
        </p:nvSpPr>
        <p:spPr>
          <a:xfrm>
            <a:off x="8362950" y="2152650"/>
            <a:ext cx="2933700" cy="161925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1100" b="1" i="0">
                <a:solidFill>
                  <a:srgbClr val="FF5117"/>
                </a:solidFill>
                <a:latin typeface="IBM Plex Mono"/>
              </a:rPr>
              <a:t>NO PERMITE</a:t>
            </a:r>
            <a:endParaRPr lang="es-PE" sz="1100"/>
          </a:p>
        </p:txBody>
      </p:sp>
      <p:sp>
        <p:nvSpPr>
          <p:cNvPr id="273" name="Text"/>
          <p:cNvSpPr/>
          <p:nvPr/>
        </p:nvSpPr>
        <p:spPr>
          <a:xfrm>
            <a:off x="8362950" y="2390775"/>
            <a:ext cx="2933700" cy="314325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2100" b="1" i="0">
                <a:solidFill>
                  <a:srgbClr val="111111"/>
                </a:solidFill>
                <a:latin typeface="Roboto"/>
              </a:rPr>
              <a:t>Afirmar causalidad</a:t>
            </a:r>
            <a:endParaRPr lang="es-PE" sz="2100"/>
          </a:p>
        </p:txBody>
      </p:sp>
      <p:sp>
        <p:nvSpPr>
          <p:cNvPr id="274" name="Text"/>
          <p:cNvSpPr/>
          <p:nvPr/>
        </p:nvSpPr>
        <p:spPr>
          <a:xfrm>
            <a:off x="8362950" y="2800350"/>
            <a:ext cx="2933700" cy="1876425"/>
          </a:xfrm>
          <a:noFill/>
          <a:ln>
            <a:noFill/>
          </a:ln>
        </p:spPr>
        <p:txBody>
          <a:bodyPr lIns="0" tIns="0" rIns="0" bIns="0" anchor="top"/>
          <a:lstStyle/>
          <a:p>
            <a:pPr algn="l" lvl="0">
              <a:buNone/>
            </a:pPr>
            <a:r>
              <a:rPr lang="es-PE" sz="1500" b="0" i="0">
                <a:solidFill>
                  <a:srgbClr val="202124"/>
                </a:solidFill>
                <a:latin typeface="Roboto"/>
              </a:rPr>
              <a:t>• empleo efectivo o contratación</a:t>
            </a:r>
            <a:endParaRPr lang="es-PE" sz="1500"/>
          </a:p>
          <a:p>
            <a:pPr algn="l" lvl="0">
              <a:buNone/>
            </a:pPr>
            <a:r>
              <a:rPr lang="es-PE" sz="1500" b="0" i="0">
                <a:solidFill>
                  <a:srgbClr val="202124"/>
                </a:solidFill>
                <a:latin typeface="Roboto"/>
              </a:rPr>
              <a:t>• inserción de egresados</a:t>
            </a:r>
            <a:endParaRPr lang="es-PE" sz="1500"/>
          </a:p>
          <a:p>
            <a:pPr algn="l" lvl="0">
              <a:buNone/>
            </a:pPr>
            <a:r>
              <a:rPr lang="es-PE" sz="1500" b="0" i="0">
                <a:solidFill>
                  <a:srgbClr val="202124"/>
                </a:solidFill>
                <a:latin typeface="Roboto"/>
              </a:rPr>
              <a:t>• dominio personal del estudiante</a:t>
            </a:r>
            <a:endParaRPr lang="es-PE" sz="1500"/>
          </a:p>
          <a:p>
            <a:pPr algn="l" lvl="0">
              <a:buNone/>
            </a:pPr>
            <a:r>
              <a:rPr lang="es-PE" sz="1500" b="0" i="0">
                <a:solidFill>
                  <a:srgbClr val="202124"/>
                </a:solidFill>
                <a:latin typeface="Roboto"/>
              </a:rPr>
              <a:t>• tamaño empresarial</a:t>
            </a:r>
            <a:endParaRPr lang="es-PE" sz="1500"/>
          </a:p>
          <a:p>
            <a:pPr algn="l" lvl="0">
              <a:buNone/>
            </a:pPr>
            <a:r>
              <a:rPr lang="es-PE" sz="1500" b="0" i="0">
                <a:solidFill>
                  <a:srgbClr val="202124"/>
                </a:solidFill>
                <a:latin typeface="Roboto"/>
              </a:rPr>
              <a:t>• funciones laborales normalizadas</a:t>
            </a:r>
            <a:endParaRPr lang="es-PE" sz="1500"/>
          </a:p>
          <a:p>
            <a:pPr algn="l" lvl="0">
              <a:buNone/>
            </a:pPr>
            <a:r>
              <a:rPr lang="es-PE" sz="1500" b="0" i="0">
                <a:solidFill>
                  <a:srgbClr val="202124"/>
                </a:solidFill>
                <a:latin typeface="Roboto"/>
              </a:rPr>
              <a:t>• relaciones no presentes en Neo4j</a:t>
            </a:r>
            <a:endParaRPr lang="es-PE" sz="1500"/>
          </a:p>
        </p:txBody>
      </p:sp>
      <p:sp>
        <p:nvSpPr>
          <p:cNvPr id="275" name="Text"/>
          <p:cNvSpPr/>
          <p:nvPr/>
        </p:nvSpPr>
        <p:spPr>
          <a:xfrm>
            <a:off x="714375" y="5429250"/>
            <a:ext cx="10477500" cy="400050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2000" b="1" i="0">
                <a:solidFill>
                  <a:srgbClr val="111111"/>
                </a:solidFill>
                <a:latin typeface="Lusitana"/>
              </a:rPr>
              <a:t>La ausencia de datos no se convierte automáticamente en cero. Cada vista debe conservar denominadores, disponibilidad y advertencias.</a:t>
            </a:r>
            <a:endParaRPr lang="es-PE" sz="2000"/>
          </a:p>
        </p:txBody>
      </p:sp>
      <p:sp>
        <p:nvSpPr>
          <p:cNvPr id="276" name="Rule"/>
          <p:cNvSpPr/>
          <p:nvPr/>
        </p:nvSpPr>
        <p:spPr>
          <a:xfrm rot="0">
            <a:off x="685800" y="6486525"/>
            <a:ext cx="10820400" cy="9525"/>
          </a:xfrm>
          <a:prstGeom prst="rect">
            <a:avLst/>
          </a:prstGeom>
          <a:noFill/>
          <a:ln w="9525">
            <a:solidFill>
              <a:srgbClr val="E4E4E7"/>
            </a:solidFill>
          </a:ln>
        </p:spPr>
      </p:sp>
      <p:sp>
        <p:nvSpPr>
          <p:cNvPr id="277" name="Text"/>
          <p:cNvSpPr/>
          <p:nvPr/>
        </p:nvSpPr>
        <p:spPr>
          <a:xfrm>
            <a:off x="685800" y="6553200"/>
            <a:ext cx="8191500" cy="142875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900" b="0" i="0">
                <a:solidFill>
                  <a:srgbClr val="97999B"/>
                </a:solidFill>
                <a:latin typeface="IBM Plex Mono"/>
              </a:rPr>
              <a:t>CIAR · estado técnico · 26.08.2026 · fuente: PLAN_DASHBOARD_TENDENCIAS.md, QUERIES_EJEMPLO_NEO4J.md</a:t>
            </a:r>
            <a:endParaRPr lang="es-PE" sz="900"/>
          </a:p>
        </p:txBody>
      </p:sp>
      <p:sp>
        <p:nvSpPr>
          <p:cNvPr id="278" name="Text"/>
          <p:cNvSpPr/>
          <p:nvPr/>
        </p:nvSpPr>
        <p:spPr>
          <a:xfrm>
            <a:off x="10763250" y="6553200"/>
            <a:ext cx="742950" cy="142875"/>
          </a:xfrm>
          <a:noFill/>
          <a:ln>
            <a:noFill/>
          </a:ln>
        </p:spPr>
        <p:txBody>
          <a:bodyPr lIns="0" tIns="0" rIns="0" bIns="0" anchor="mid"/>
          <a:lstStyle/>
          <a:p>
            <a:pPr algn="r" lvl="0">
              <a:buNone/>
            </a:pPr>
            <a:r>
              <a:rPr lang="es-PE" sz="1000" b="1" i="0">
                <a:solidFill>
                  <a:srgbClr val="FF5117"/>
                </a:solidFill>
                <a:latin typeface="Roboto"/>
              </a:rPr>
              <a:t>ULIMA</a:t>
            </a:r>
            <a:endParaRPr lang="es-PE" sz="1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</a:xfrm>
        <a:prstGeom prst="rect">
          <a:avLst/>
        </a:prstGeom>
      </p:grpSpPr>
      <p:sp>
        <p:nvSpPr>
          <p:cNvPr id="279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</p:sp>
      <p:sp>
        <p:nvSpPr>
          <p:cNvPr id="280" name="Slide title"/>
          <p:cNvSpPr/>
          <p:nvPr/>
        </p:nvSpPr>
        <p:spPr>
          <a:xfrm>
            <a:off x="685800" y="533400"/>
            <a:ext cx="10477500" cy="514350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3400" b="1" i="0">
                <a:solidFill>
                  <a:srgbClr val="111111"/>
                </a:solidFill>
                <a:latin typeface="Roboto"/>
              </a:rPr>
              <a:t>El avance por fases muestra un núcleo maduro y una última milla abierta</a:t>
            </a:r>
            <a:endParaRPr lang="es-PE" sz="3400"/>
          </a:p>
        </p:txBody>
      </p:sp>
      <p:sp>
        <p:nvSpPr>
          <p:cNvPr id="281" name="Text"/>
          <p:cNvSpPr/>
          <p:nvPr/>
        </p:nvSpPr>
        <p:spPr>
          <a:xfrm>
            <a:off x="704850" y="1076325"/>
            <a:ext cx="9334500" cy="247650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1500" b="0" i="0">
                <a:solidFill>
                  <a:srgbClr val="97999B"/>
                </a:solidFill>
                <a:latin typeface="Roboto"/>
              </a:rPr>
              <a:t>Lectura acumulada del historial Git, plan y código vigente</a:t>
            </a:r>
            <a:endParaRPr lang="es-PE" sz="1500"/>
          </a:p>
        </p:txBody>
      </p:sp>
      <p:sp>
        <p:nvSpPr>
          <p:cNvPr id="282" name="Rule"/>
          <p:cNvSpPr/>
          <p:nvPr/>
        </p:nvSpPr>
        <p:spPr>
          <a:xfrm rot="0">
            <a:off x="685800" y="1428750"/>
            <a:ext cx="10820400" cy="9525"/>
          </a:xfrm>
          <a:prstGeom prst="rect">
            <a:avLst/>
          </a:prstGeom>
          <a:noFill/>
          <a:ln w="9525">
            <a:solidFill>
              <a:srgbClr val="E4E4E7"/>
            </a:solidFill>
          </a:ln>
        </p:spPr>
      </p:sp>
      <p:sp>
        <p:nvSpPr>
          <p:cNvPr id="283" name="Text"/>
          <p:cNvSpPr/>
          <p:nvPr/>
        </p:nvSpPr>
        <p:spPr>
          <a:xfrm>
            <a:off x="704850" y="1724025"/>
            <a:ext cx="10858500" cy="266700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1200" b="1" i="0">
                <a:solidFill>
                  <a:srgbClr val="00C78B"/>
                </a:solidFill>
                <a:latin typeface="IBM Plex Mono"/>
              </a:rPr>
              <a:t>COMPLETADO / IMPLEMENTADO</a:t>
            </a:r>
            <a:endParaRPr lang="es-PE" sz="1200"/>
          </a:p>
        </p:txBody>
      </p:sp>
      <p:sp>
        <p:nvSpPr>
          <p:cNvPr id="284" name="Shape"/>
          <p:cNvSpPr/>
          <p:nvPr/>
        </p:nvSpPr>
        <p:spPr>
          <a:xfrm>
            <a:off x="704850" y="2190750"/>
            <a:ext cx="1885950" cy="838200"/>
          </a:xfrm>
          <a:prstGeom prst="roundRect">
            <a:avLst/>
          </a:prstGeom>
          <a:solidFill>
            <a:srgbClr val="F1F1F3"/>
          </a:solidFill>
          <a:ln>
            <a:noFill/>
          </a:ln>
        </p:spPr>
      </p:sp>
      <p:sp>
        <p:nvSpPr>
          <p:cNvPr id="285" name="Dot"/>
          <p:cNvSpPr/>
          <p:nvPr/>
        </p:nvSpPr>
        <p:spPr>
          <a:xfrm>
            <a:off x="809625" y="2295525"/>
            <a:ext cx="247650" cy="247650"/>
          </a:xfrm>
          <a:prstGeom prst="ellipse">
            <a:avLst/>
          </a:prstGeom>
          <a:solidFill>
            <a:srgbClr val="00C78B"/>
          </a:solidFill>
          <a:ln>
            <a:noFill/>
          </a:ln>
        </p:spPr>
      </p:sp>
      <p:sp>
        <p:nvSpPr>
          <p:cNvPr id="286" name="Text"/>
          <p:cNvSpPr/>
          <p:nvPr/>
        </p:nvSpPr>
        <p:spPr>
          <a:xfrm>
            <a:off x="847725" y="2305050"/>
            <a:ext cx="171450" cy="209550"/>
          </a:xfrm>
          <a:noFill/>
          <a:ln>
            <a:noFill/>
          </a:ln>
        </p:spPr>
        <p:txBody>
          <a:bodyPr lIns="0" tIns="0" rIns="0" bIns="0" anchor="mid"/>
          <a:lstStyle/>
          <a:p>
            <a:pPr algn="c" lvl="0">
              <a:buNone/>
            </a:pPr>
            <a:r>
              <a:rPr lang="es-PE" sz="1100" b="1" i="0">
                <a:solidFill>
                  <a:srgbClr val="FAFAFA"/>
                </a:solidFill>
                <a:latin typeface="IBM Plex Mono"/>
              </a:rPr>
              <a:t>0</a:t>
            </a:r>
            <a:endParaRPr lang="es-PE" sz="1100"/>
          </a:p>
        </p:txBody>
      </p:sp>
      <p:sp>
        <p:nvSpPr>
          <p:cNvPr id="287" name="Text"/>
          <p:cNvSpPr/>
          <p:nvPr/>
        </p:nvSpPr>
        <p:spPr>
          <a:xfrm>
            <a:off x="1181100" y="2305050"/>
            <a:ext cx="1285875" cy="419100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1500" b="1" i="0">
                <a:solidFill>
                  <a:srgbClr val="111111"/>
                </a:solidFill>
                <a:latin typeface="Roboto"/>
              </a:rPr>
              <a:t>Base y paquete activo</a:t>
            </a:r>
            <a:endParaRPr lang="es-PE" sz="1500"/>
          </a:p>
        </p:txBody>
      </p:sp>
      <p:sp>
        <p:nvSpPr>
          <p:cNvPr id="288" name="Shape"/>
          <p:cNvSpPr/>
          <p:nvPr/>
        </p:nvSpPr>
        <p:spPr>
          <a:xfrm>
            <a:off x="2847975" y="2190750"/>
            <a:ext cx="1885950" cy="838200"/>
          </a:xfrm>
          <a:prstGeom prst="roundRect">
            <a:avLst/>
          </a:prstGeom>
          <a:solidFill>
            <a:srgbClr val="F1F1F3"/>
          </a:solidFill>
          <a:ln>
            <a:noFill/>
          </a:ln>
        </p:spPr>
      </p:sp>
      <p:sp>
        <p:nvSpPr>
          <p:cNvPr id="289" name="Dot"/>
          <p:cNvSpPr/>
          <p:nvPr/>
        </p:nvSpPr>
        <p:spPr>
          <a:xfrm>
            <a:off x="2952750" y="2295525"/>
            <a:ext cx="247650" cy="247650"/>
          </a:xfrm>
          <a:prstGeom prst="ellipse">
            <a:avLst/>
          </a:prstGeom>
          <a:solidFill>
            <a:srgbClr val="00C78B"/>
          </a:solidFill>
          <a:ln>
            <a:noFill/>
          </a:ln>
        </p:spPr>
      </p:sp>
      <p:sp>
        <p:nvSpPr>
          <p:cNvPr id="290" name="Text"/>
          <p:cNvSpPr/>
          <p:nvPr/>
        </p:nvSpPr>
        <p:spPr>
          <a:xfrm>
            <a:off x="2990850" y="2305050"/>
            <a:ext cx="171450" cy="209550"/>
          </a:xfrm>
          <a:noFill/>
          <a:ln>
            <a:noFill/>
          </a:ln>
        </p:spPr>
        <p:txBody>
          <a:bodyPr lIns="0" tIns="0" rIns="0" bIns="0" anchor="mid"/>
          <a:lstStyle/>
          <a:p>
            <a:pPr algn="c" lvl="0">
              <a:buNone/>
            </a:pPr>
            <a:r>
              <a:rPr lang="es-PE" sz="1100" b="1" i="0">
                <a:solidFill>
                  <a:srgbClr val="FAFAFA"/>
                </a:solidFill>
                <a:latin typeface="IBM Plex Mono"/>
              </a:rPr>
              <a:t>1</a:t>
            </a:r>
            <a:endParaRPr lang="es-PE" sz="1100"/>
          </a:p>
        </p:txBody>
      </p:sp>
      <p:sp>
        <p:nvSpPr>
          <p:cNvPr id="291" name="Text"/>
          <p:cNvSpPr/>
          <p:nvPr/>
        </p:nvSpPr>
        <p:spPr>
          <a:xfrm>
            <a:off x="3324225" y="2305050"/>
            <a:ext cx="1285875" cy="419100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1500" b="1" i="0">
                <a:solidFill>
                  <a:srgbClr val="111111"/>
                </a:solidFill>
                <a:latin typeface="Roboto"/>
              </a:rPr>
              <a:t>OpenAI por rol</a:t>
            </a:r>
            <a:endParaRPr lang="es-PE" sz="1500"/>
          </a:p>
        </p:txBody>
      </p:sp>
      <p:sp>
        <p:nvSpPr>
          <p:cNvPr id="292" name="Shape"/>
          <p:cNvSpPr/>
          <p:nvPr/>
        </p:nvSpPr>
        <p:spPr>
          <a:xfrm>
            <a:off x="4991100" y="2190750"/>
            <a:ext cx="1885950" cy="838200"/>
          </a:xfrm>
          <a:prstGeom prst="roundRect">
            <a:avLst/>
          </a:prstGeom>
          <a:solidFill>
            <a:srgbClr val="F1F1F3"/>
          </a:solidFill>
          <a:ln>
            <a:noFill/>
          </a:ln>
        </p:spPr>
      </p:sp>
      <p:sp>
        <p:nvSpPr>
          <p:cNvPr id="293" name="Dot"/>
          <p:cNvSpPr/>
          <p:nvPr/>
        </p:nvSpPr>
        <p:spPr>
          <a:xfrm>
            <a:off x="5095875" y="2295525"/>
            <a:ext cx="247650" cy="247650"/>
          </a:xfrm>
          <a:prstGeom prst="ellipse">
            <a:avLst/>
          </a:prstGeom>
          <a:solidFill>
            <a:srgbClr val="00C78B"/>
          </a:solidFill>
          <a:ln>
            <a:noFill/>
          </a:ln>
        </p:spPr>
      </p:sp>
      <p:sp>
        <p:nvSpPr>
          <p:cNvPr id="294" name="Text"/>
          <p:cNvSpPr/>
          <p:nvPr/>
        </p:nvSpPr>
        <p:spPr>
          <a:xfrm>
            <a:off x="5133975" y="2305050"/>
            <a:ext cx="171450" cy="209550"/>
          </a:xfrm>
          <a:noFill/>
          <a:ln>
            <a:noFill/>
          </a:ln>
        </p:spPr>
        <p:txBody>
          <a:bodyPr lIns="0" tIns="0" rIns="0" bIns="0" anchor="mid"/>
          <a:lstStyle/>
          <a:p>
            <a:pPr algn="c" lvl="0">
              <a:buNone/>
            </a:pPr>
            <a:r>
              <a:rPr lang="es-PE" sz="1100" b="1" i="0">
                <a:solidFill>
                  <a:srgbClr val="FAFAFA"/>
                </a:solidFill>
                <a:latin typeface="IBM Plex Mono"/>
              </a:rPr>
              <a:t>2</a:t>
            </a:r>
            <a:endParaRPr lang="es-PE" sz="1100"/>
          </a:p>
        </p:txBody>
      </p:sp>
      <p:sp>
        <p:nvSpPr>
          <p:cNvPr id="295" name="Text"/>
          <p:cNvSpPr/>
          <p:nvPr/>
        </p:nvSpPr>
        <p:spPr>
          <a:xfrm>
            <a:off x="5467350" y="2305050"/>
            <a:ext cx="1285875" cy="419100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1500" b="1" i="0">
                <a:solidFill>
                  <a:srgbClr val="111111"/>
                </a:solidFill>
                <a:latin typeface="Roboto"/>
              </a:rPr>
              <a:t>Seguridad + observabilidad</a:t>
            </a:r>
            <a:endParaRPr lang="es-PE" sz="1500"/>
          </a:p>
        </p:txBody>
      </p:sp>
      <p:sp>
        <p:nvSpPr>
          <p:cNvPr id="296" name="Shape"/>
          <p:cNvSpPr/>
          <p:nvPr/>
        </p:nvSpPr>
        <p:spPr>
          <a:xfrm>
            <a:off x="7134225" y="2190750"/>
            <a:ext cx="1885950" cy="838200"/>
          </a:xfrm>
          <a:prstGeom prst="roundRect">
            <a:avLst/>
          </a:prstGeom>
          <a:solidFill>
            <a:srgbClr val="F1F1F3"/>
          </a:solidFill>
          <a:ln>
            <a:noFill/>
          </a:ln>
        </p:spPr>
      </p:sp>
      <p:sp>
        <p:nvSpPr>
          <p:cNvPr id="297" name="Dot"/>
          <p:cNvSpPr/>
          <p:nvPr/>
        </p:nvSpPr>
        <p:spPr>
          <a:xfrm>
            <a:off x="7239000" y="2295525"/>
            <a:ext cx="247650" cy="247650"/>
          </a:xfrm>
          <a:prstGeom prst="ellipse">
            <a:avLst/>
          </a:prstGeom>
          <a:solidFill>
            <a:srgbClr val="00C78B"/>
          </a:solidFill>
          <a:ln>
            <a:noFill/>
          </a:ln>
        </p:spPr>
      </p:sp>
      <p:sp>
        <p:nvSpPr>
          <p:cNvPr id="298" name="Text"/>
          <p:cNvSpPr/>
          <p:nvPr/>
        </p:nvSpPr>
        <p:spPr>
          <a:xfrm>
            <a:off x="7277100" y="2305050"/>
            <a:ext cx="171450" cy="209550"/>
          </a:xfrm>
          <a:noFill/>
          <a:ln>
            <a:noFill/>
          </a:ln>
        </p:spPr>
        <p:txBody>
          <a:bodyPr lIns="0" tIns="0" rIns="0" bIns="0" anchor="mid"/>
          <a:lstStyle/>
          <a:p>
            <a:pPr algn="c" lvl="0">
              <a:buNone/>
            </a:pPr>
            <a:r>
              <a:rPr lang="es-PE" sz="1100" b="1" i="0">
                <a:solidFill>
                  <a:srgbClr val="FAFAFA"/>
                </a:solidFill>
                <a:latin typeface="IBM Plex Mono"/>
              </a:rPr>
              <a:t>3</a:t>
            </a:r>
            <a:endParaRPr lang="es-PE" sz="1100"/>
          </a:p>
        </p:txBody>
      </p:sp>
      <p:sp>
        <p:nvSpPr>
          <p:cNvPr id="299" name="Text"/>
          <p:cNvSpPr/>
          <p:nvPr/>
        </p:nvSpPr>
        <p:spPr>
          <a:xfrm>
            <a:off x="7610475" y="2305050"/>
            <a:ext cx="1285875" cy="419100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1500" b="1" i="0">
                <a:solidFill>
                  <a:srgbClr val="111111"/>
                </a:solidFill>
                <a:latin typeface="Roboto"/>
              </a:rPr>
              <a:t>Orquestación CIAR</a:t>
            </a:r>
            <a:endParaRPr lang="es-PE" sz="1500"/>
          </a:p>
        </p:txBody>
      </p:sp>
      <p:sp>
        <p:nvSpPr>
          <p:cNvPr id="300" name="Shape"/>
          <p:cNvSpPr/>
          <p:nvPr/>
        </p:nvSpPr>
        <p:spPr>
          <a:xfrm>
            <a:off x="9277350" y="2190750"/>
            <a:ext cx="1885950" cy="838200"/>
          </a:xfrm>
          <a:prstGeom prst="roundRect">
            <a:avLst/>
          </a:prstGeom>
          <a:solidFill>
            <a:srgbClr val="F1F1F3"/>
          </a:solidFill>
          <a:ln>
            <a:noFill/>
          </a:ln>
        </p:spPr>
      </p:sp>
      <p:sp>
        <p:nvSpPr>
          <p:cNvPr id="301" name="Dot"/>
          <p:cNvSpPr/>
          <p:nvPr/>
        </p:nvSpPr>
        <p:spPr>
          <a:xfrm>
            <a:off x="9382125" y="2295525"/>
            <a:ext cx="247650" cy="247650"/>
          </a:xfrm>
          <a:prstGeom prst="ellipse">
            <a:avLst/>
          </a:prstGeom>
          <a:solidFill>
            <a:srgbClr val="00C78B"/>
          </a:solidFill>
          <a:ln>
            <a:noFill/>
          </a:ln>
        </p:spPr>
      </p:sp>
      <p:sp>
        <p:nvSpPr>
          <p:cNvPr id="302" name="Text"/>
          <p:cNvSpPr/>
          <p:nvPr/>
        </p:nvSpPr>
        <p:spPr>
          <a:xfrm>
            <a:off x="9420225" y="2305050"/>
            <a:ext cx="171450" cy="209550"/>
          </a:xfrm>
          <a:noFill/>
          <a:ln>
            <a:noFill/>
          </a:ln>
        </p:spPr>
        <p:txBody>
          <a:bodyPr lIns="0" tIns="0" rIns="0" bIns="0" anchor="mid"/>
          <a:lstStyle/>
          <a:p>
            <a:pPr algn="c" lvl="0">
              <a:buNone/>
            </a:pPr>
            <a:r>
              <a:rPr lang="es-PE" sz="1100" b="1" i="0">
                <a:solidFill>
                  <a:srgbClr val="FAFAFA"/>
                </a:solidFill>
                <a:latin typeface="IBM Plex Mono"/>
              </a:rPr>
              <a:t>5</a:t>
            </a:r>
            <a:endParaRPr lang="es-PE" sz="1100"/>
          </a:p>
        </p:txBody>
      </p:sp>
      <p:sp>
        <p:nvSpPr>
          <p:cNvPr id="303" name="Text"/>
          <p:cNvSpPr/>
          <p:nvPr/>
        </p:nvSpPr>
        <p:spPr>
          <a:xfrm>
            <a:off x="9753600" y="2305050"/>
            <a:ext cx="1285875" cy="419100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1500" b="1" i="0">
                <a:solidFill>
                  <a:srgbClr val="111111"/>
                </a:solidFill>
                <a:latin typeface="Roboto"/>
              </a:rPr>
              <a:t>Normalizador empleabilidad</a:t>
            </a:r>
            <a:endParaRPr lang="es-PE" sz="1500"/>
          </a:p>
        </p:txBody>
      </p:sp>
      <p:sp>
        <p:nvSpPr>
          <p:cNvPr id="304" name="Text"/>
          <p:cNvSpPr/>
          <p:nvPr/>
        </p:nvSpPr>
        <p:spPr>
          <a:xfrm>
            <a:off x="704850" y="3638550"/>
            <a:ext cx="10858500" cy="266700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1200" b="1" i="0">
                <a:solidFill>
                  <a:srgbClr val="FFA000"/>
                </a:solidFill>
                <a:latin typeface="IBM Plex Mono"/>
              </a:rPr>
              <a:t>PARCIAL / EN PROGRESO</a:t>
            </a:r>
            <a:endParaRPr lang="es-PE" sz="1200"/>
          </a:p>
        </p:txBody>
      </p:sp>
      <p:sp>
        <p:nvSpPr>
          <p:cNvPr id="305" name="Shape"/>
          <p:cNvSpPr/>
          <p:nvPr/>
        </p:nvSpPr>
        <p:spPr>
          <a:xfrm>
            <a:off x="704850" y="4105275"/>
            <a:ext cx="2400300" cy="876300"/>
          </a:xfrm>
          <a:prstGeom prst="roundRect">
            <a:avLst/>
          </a:prstGeom>
          <a:solidFill>
            <a:srgbClr val="FFF4E6"/>
          </a:solidFill>
          <a:ln>
            <a:noFill/>
          </a:ln>
        </p:spPr>
      </p:sp>
      <p:sp>
        <p:nvSpPr>
          <p:cNvPr id="306" name="Dot"/>
          <p:cNvSpPr/>
          <p:nvPr/>
        </p:nvSpPr>
        <p:spPr>
          <a:xfrm>
            <a:off x="809625" y="4219575"/>
            <a:ext cx="247650" cy="247650"/>
          </a:xfrm>
          <a:prstGeom prst="ellipse">
            <a:avLst/>
          </a:prstGeom>
          <a:solidFill>
            <a:srgbClr val="FFA000"/>
          </a:solidFill>
          <a:ln>
            <a:noFill/>
          </a:ln>
        </p:spPr>
      </p:sp>
      <p:sp>
        <p:nvSpPr>
          <p:cNvPr id="307" name="Text"/>
          <p:cNvSpPr/>
          <p:nvPr/>
        </p:nvSpPr>
        <p:spPr>
          <a:xfrm>
            <a:off x="847725" y="4229100"/>
            <a:ext cx="171450" cy="209550"/>
          </a:xfrm>
          <a:noFill/>
          <a:ln>
            <a:noFill/>
          </a:ln>
        </p:spPr>
        <p:txBody>
          <a:bodyPr lIns="0" tIns="0" rIns="0" bIns="0" anchor="mid"/>
          <a:lstStyle/>
          <a:p>
            <a:pPr algn="c" lvl="0">
              <a:buNone/>
            </a:pPr>
            <a:r>
              <a:rPr lang="es-PE" sz="1100" b="1" i="0">
                <a:solidFill>
                  <a:srgbClr val="FAFAFA"/>
                </a:solidFill>
                <a:latin typeface="IBM Plex Mono"/>
              </a:rPr>
              <a:t>4</a:t>
            </a:r>
            <a:endParaRPr lang="es-PE" sz="1100"/>
          </a:p>
        </p:txBody>
      </p:sp>
      <p:sp>
        <p:nvSpPr>
          <p:cNvPr id="308" name="Text"/>
          <p:cNvSpPr/>
          <p:nvPr/>
        </p:nvSpPr>
        <p:spPr>
          <a:xfrm>
            <a:off x="1181100" y="4219575"/>
            <a:ext cx="1752600" cy="514350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1500" b="1" i="0">
                <a:solidFill>
                  <a:srgbClr val="111111"/>
                </a:solidFill>
                <a:latin typeface="Roboto"/>
              </a:rPr>
              <a:t>Dashboard: 7 activos / 5 diferidos</a:t>
            </a:r>
            <a:endParaRPr lang="es-PE" sz="1500"/>
          </a:p>
        </p:txBody>
      </p:sp>
      <p:sp>
        <p:nvSpPr>
          <p:cNvPr id="309" name="Shape"/>
          <p:cNvSpPr/>
          <p:nvPr/>
        </p:nvSpPr>
        <p:spPr>
          <a:xfrm>
            <a:off x="3371850" y="4105275"/>
            <a:ext cx="2400300" cy="876300"/>
          </a:xfrm>
          <a:prstGeom prst="roundRect">
            <a:avLst/>
          </a:prstGeom>
          <a:solidFill>
            <a:srgbClr val="FFF4E6"/>
          </a:solidFill>
          <a:ln>
            <a:noFill/>
          </a:ln>
        </p:spPr>
      </p:sp>
      <p:sp>
        <p:nvSpPr>
          <p:cNvPr id="310" name="Dot"/>
          <p:cNvSpPr/>
          <p:nvPr/>
        </p:nvSpPr>
        <p:spPr>
          <a:xfrm>
            <a:off x="3476625" y="4219575"/>
            <a:ext cx="247650" cy="247650"/>
          </a:xfrm>
          <a:prstGeom prst="ellipse">
            <a:avLst/>
          </a:prstGeom>
          <a:solidFill>
            <a:srgbClr val="FFA000"/>
          </a:solidFill>
          <a:ln>
            <a:noFill/>
          </a:ln>
        </p:spPr>
      </p:sp>
      <p:sp>
        <p:nvSpPr>
          <p:cNvPr id="311" name="Text"/>
          <p:cNvSpPr/>
          <p:nvPr/>
        </p:nvSpPr>
        <p:spPr>
          <a:xfrm>
            <a:off x="3514725" y="4229100"/>
            <a:ext cx="171450" cy="209550"/>
          </a:xfrm>
          <a:noFill/>
          <a:ln>
            <a:noFill/>
          </a:ln>
        </p:spPr>
        <p:txBody>
          <a:bodyPr lIns="0" tIns="0" rIns="0" bIns="0" anchor="mid"/>
          <a:lstStyle/>
          <a:p>
            <a:pPr algn="c" lvl="0">
              <a:buNone/>
            </a:pPr>
            <a:r>
              <a:rPr lang="es-PE" sz="1100" b="1" i="0">
                <a:solidFill>
                  <a:srgbClr val="FAFAFA"/>
                </a:solidFill>
                <a:latin typeface="IBM Plex Mono"/>
              </a:rPr>
              <a:t>6</a:t>
            </a:r>
            <a:endParaRPr lang="es-PE" sz="1100"/>
          </a:p>
        </p:txBody>
      </p:sp>
      <p:sp>
        <p:nvSpPr>
          <p:cNvPr id="312" name="Text"/>
          <p:cNvSpPr/>
          <p:nvPr/>
        </p:nvSpPr>
        <p:spPr>
          <a:xfrm>
            <a:off x="3848100" y="4219575"/>
            <a:ext cx="1752600" cy="514350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1500" b="1" i="0">
                <a:solidFill>
                  <a:srgbClr val="111111"/>
                </a:solidFill>
                <a:latin typeface="Roboto"/>
              </a:rPr>
              <a:t>Sílabos + revisión + embeddings</a:t>
            </a:r>
            <a:endParaRPr lang="es-PE" sz="1500"/>
          </a:p>
        </p:txBody>
      </p:sp>
      <p:sp>
        <p:nvSpPr>
          <p:cNvPr id="313" name="Shape"/>
          <p:cNvSpPr/>
          <p:nvPr/>
        </p:nvSpPr>
        <p:spPr>
          <a:xfrm>
            <a:off x="6038850" y="4105275"/>
            <a:ext cx="2400300" cy="876300"/>
          </a:xfrm>
          <a:prstGeom prst="roundRect">
            <a:avLst/>
          </a:prstGeom>
          <a:solidFill>
            <a:srgbClr val="FFF4E6"/>
          </a:solidFill>
          <a:ln>
            <a:noFill/>
          </a:ln>
        </p:spPr>
      </p:sp>
      <p:sp>
        <p:nvSpPr>
          <p:cNvPr id="314" name="Dot"/>
          <p:cNvSpPr/>
          <p:nvPr/>
        </p:nvSpPr>
        <p:spPr>
          <a:xfrm>
            <a:off x="6143625" y="4219575"/>
            <a:ext cx="247650" cy="247650"/>
          </a:xfrm>
          <a:prstGeom prst="ellipse">
            <a:avLst/>
          </a:prstGeom>
          <a:solidFill>
            <a:srgbClr val="FFA000"/>
          </a:solidFill>
          <a:ln>
            <a:noFill/>
          </a:ln>
        </p:spPr>
      </p:sp>
      <p:sp>
        <p:nvSpPr>
          <p:cNvPr id="315" name="Text"/>
          <p:cNvSpPr/>
          <p:nvPr/>
        </p:nvSpPr>
        <p:spPr>
          <a:xfrm>
            <a:off x="6181725" y="4229100"/>
            <a:ext cx="171450" cy="209550"/>
          </a:xfrm>
          <a:noFill/>
          <a:ln>
            <a:noFill/>
          </a:ln>
        </p:spPr>
        <p:txBody>
          <a:bodyPr lIns="0" tIns="0" rIns="0" bIns="0" anchor="mid"/>
          <a:lstStyle/>
          <a:p>
            <a:pPr algn="c" lvl="0">
              <a:buNone/>
            </a:pPr>
            <a:r>
              <a:rPr lang="es-PE" sz="1100" b="1" i="0">
                <a:solidFill>
                  <a:srgbClr val="FAFAFA"/>
                </a:solidFill>
                <a:latin typeface="IBM Plex Mono"/>
              </a:rPr>
              <a:t>7</a:t>
            </a:r>
            <a:endParaRPr lang="es-PE" sz="1100"/>
          </a:p>
        </p:txBody>
      </p:sp>
      <p:sp>
        <p:nvSpPr>
          <p:cNvPr id="316" name="Text"/>
          <p:cNvSpPr/>
          <p:nvPr/>
        </p:nvSpPr>
        <p:spPr>
          <a:xfrm>
            <a:off x="6515100" y="4219575"/>
            <a:ext cx="1752600" cy="514350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1500" b="1" i="0">
                <a:solidFill>
                  <a:srgbClr val="111111"/>
                </a:solidFill>
                <a:latin typeface="Roboto"/>
              </a:rPr>
              <a:t>Importación con release gate</a:t>
            </a:r>
            <a:endParaRPr lang="es-PE" sz="1500"/>
          </a:p>
        </p:txBody>
      </p:sp>
      <p:sp>
        <p:nvSpPr>
          <p:cNvPr id="317" name="Shape"/>
          <p:cNvSpPr/>
          <p:nvPr/>
        </p:nvSpPr>
        <p:spPr>
          <a:xfrm>
            <a:off x="8705850" y="4105275"/>
            <a:ext cx="2400300" cy="876300"/>
          </a:xfrm>
          <a:prstGeom prst="roundRect">
            <a:avLst/>
          </a:prstGeom>
          <a:solidFill>
            <a:srgbClr val="FFF4E6"/>
          </a:solidFill>
          <a:ln>
            <a:noFill/>
          </a:ln>
        </p:spPr>
      </p:sp>
      <p:sp>
        <p:nvSpPr>
          <p:cNvPr id="318" name="Dot"/>
          <p:cNvSpPr/>
          <p:nvPr/>
        </p:nvSpPr>
        <p:spPr>
          <a:xfrm>
            <a:off x="8810625" y="4219575"/>
            <a:ext cx="247650" cy="247650"/>
          </a:xfrm>
          <a:prstGeom prst="ellipse">
            <a:avLst/>
          </a:prstGeom>
          <a:solidFill>
            <a:srgbClr val="FFA000"/>
          </a:solidFill>
          <a:ln>
            <a:noFill/>
          </a:ln>
        </p:spPr>
      </p:sp>
      <p:sp>
        <p:nvSpPr>
          <p:cNvPr id="319" name="Text"/>
          <p:cNvSpPr/>
          <p:nvPr/>
        </p:nvSpPr>
        <p:spPr>
          <a:xfrm>
            <a:off x="8848725" y="4229100"/>
            <a:ext cx="171450" cy="209550"/>
          </a:xfrm>
          <a:noFill/>
          <a:ln>
            <a:noFill/>
          </a:ln>
        </p:spPr>
        <p:txBody>
          <a:bodyPr lIns="0" tIns="0" rIns="0" bIns="0" anchor="mid"/>
          <a:lstStyle/>
          <a:p>
            <a:pPr algn="c" lvl="0">
              <a:buNone/>
            </a:pPr>
            <a:r>
              <a:rPr lang="es-PE" sz="1100" b="1" i="0">
                <a:solidFill>
                  <a:srgbClr val="FAFAFA"/>
                </a:solidFill>
                <a:latin typeface="IBM Plex Mono"/>
              </a:rPr>
              <a:t>8</a:t>
            </a:r>
            <a:endParaRPr lang="es-PE" sz="1100"/>
          </a:p>
        </p:txBody>
      </p:sp>
      <p:sp>
        <p:nvSpPr>
          <p:cNvPr id="320" name="Text"/>
          <p:cNvSpPr/>
          <p:nvPr/>
        </p:nvSpPr>
        <p:spPr>
          <a:xfrm>
            <a:off x="9182100" y="4219575"/>
            <a:ext cx="1752600" cy="514350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1500" b="1" i="0">
                <a:solidFill>
                  <a:srgbClr val="111111"/>
                </a:solidFill>
                <a:latin typeface="Roboto"/>
              </a:rPr>
              <a:t>Productización y aceptación live</a:t>
            </a:r>
            <a:endParaRPr lang="es-PE" sz="1500"/>
          </a:p>
        </p:txBody>
      </p:sp>
      <p:sp>
        <p:nvSpPr>
          <p:cNvPr id="321" name="Text"/>
          <p:cNvSpPr/>
          <p:nvPr/>
        </p:nvSpPr>
        <p:spPr>
          <a:xfrm>
            <a:off x="704850" y="5572125"/>
            <a:ext cx="10858500" cy="333375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1900" b="1" i="0">
                <a:solidFill>
                  <a:srgbClr val="111111"/>
                </a:solidFill>
                <a:latin typeface="Lusitana"/>
              </a:rPr>
              <a:t>El criterio de cierre es operacional: servicios reales, seguridad de frontera, despliegue reproducible y documentación reconciliada.</a:t>
            </a:r>
            <a:endParaRPr lang="es-PE" sz="1900"/>
          </a:p>
        </p:txBody>
      </p:sp>
      <p:sp>
        <p:nvSpPr>
          <p:cNvPr id="322" name="Rule"/>
          <p:cNvSpPr/>
          <p:nvPr/>
        </p:nvSpPr>
        <p:spPr>
          <a:xfrm rot="0">
            <a:off x="685800" y="6486525"/>
            <a:ext cx="10820400" cy="9525"/>
          </a:xfrm>
          <a:prstGeom prst="rect">
            <a:avLst/>
          </a:prstGeom>
          <a:noFill/>
          <a:ln w="9525">
            <a:solidFill>
              <a:srgbClr val="E4E4E7"/>
            </a:solidFill>
          </a:ln>
        </p:spPr>
      </p:sp>
      <p:sp>
        <p:nvSpPr>
          <p:cNvPr id="323" name="Text"/>
          <p:cNvSpPr/>
          <p:nvPr/>
        </p:nvSpPr>
        <p:spPr>
          <a:xfrm>
            <a:off x="685800" y="6553200"/>
            <a:ext cx="8191500" cy="142875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900" b="0" i="0">
                <a:solidFill>
                  <a:srgbClr val="97999B"/>
                </a:solidFill>
                <a:latin typeface="IBM Plex Mono"/>
              </a:rPr>
              <a:t>CIAR · estado técnico · 26.08.2026 · fuente: historial Git hasta 4c24bc0, docs/plan_implementacion.md, código vigente</a:t>
            </a:r>
            <a:endParaRPr lang="es-PE" sz="900"/>
          </a:p>
        </p:txBody>
      </p:sp>
      <p:sp>
        <p:nvSpPr>
          <p:cNvPr id="324" name="Text"/>
          <p:cNvSpPr/>
          <p:nvPr/>
        </p:nvSpPr>
        <p:spPr>
          <a:xfrm>
            <a:off x="10763250" y="6553200"/>
            <a:ext cx="742950" cy="142875"/>
          </a:xfrm>
          <a:noFill/>
          <a:ln>
            <a:noFill/>
          </a:ln>
        </p:spPr>
        <p:txBody>
          <a:bodyPr lIns="0" tIns="0" rIns="0" bIns="0" anchor="mid"/>
          <a:lstStyle/>
          <a:p>
            <a:pPr algn="r" lvl="0">
              <a:buNone/>
            </a:pPr>
            <a:r>
              <a:rPr lang="es-PE" sz="1000" b="1" i="0">
                <a:solidFill>
                  <a:srgbClr val="FF5117"/>
                </a:solidFill>
                <a:latin typeface="Roboto"/>
              </a:rPr>
              <a:t>ULIMA</a:t>
            </a:r>
            <a:endParaRPr lang="es-PE"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</a:xfrm>
        <a:prstGeom prst="rect">
          <a:avLst/>
        </a:prstGeom>
      </p:grpSpPr>
      <p:sp>
        <p:nvSpPr>
          <p:cNvPr id="325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</p:sp>
      <p:sp>
        <p:nvSpPr>
          <p:cNvPr id="326" name="Slide title"/>
          <p:cNvSpPr/>
          <p:nvPr/>
        </p:nvSpPr>
        <p:spPr>
          <a:xfrm>
            <a:off x="685800" y="533400"/>
            <a:ext cx="10477500" cy="514350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3400" b="1" i="0">
                <a:solidFill>
                  <a:srgbClr val="111111"/>
                </a:solidFill>
                <a:latin typeface="Roboto"/>
              </a:rPr>
              <a:t>La calidad local es alta; la aceptación con infraestructura real sigue pendiente</a:t>
            </a:r>
            <a:endParaRPr lang="es-PE" sz="3400"/>
          </a:p>
        </p:txBody>
      </p:sp>
      <p:sp>
        <p:nvSpPr>
          <p:cNvPr id="327" name="Text"/>
          <p:cNvSpPr/>
          <p:nvPr/>
        </p:nvSpPr>
        <p:spPr>
          <a:xfrm>
            <a:off x="704850" y="1076325"/>
            <a:ext cx="9334500" cy="247650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1500" b="0" i="0">
                <a:solidFill>
                  <a:srgbClr val="97999B"/>
                </a:solidFill>
                <a:latin typeface="Roboto"/>
              </a:rPr>
              <a:t>Resultados reproducibles del corte técnico</a:t>
            </a:r>
            <a:endParaRPr lang="es-PE" sz="1500"/>
          </a:p>
        </p:txBody>
      </p:sp>
      <p:sp>
        <p:nvSpPr>
          <p:cNvPr id="328" name="Rule"/>
          <p:cNvSpPr/>
          <p:nvPr/>
        </p:nvSpPr>
        <p:spPr>
          <a:xfrm rot="0">
            <a:off x="685800" y="1428750"/>
            <a:ext cx="10820400" cy="9525"/>
          </a:xfrm>
          <a:prstGeom prst="rect">
            <a:avLst/>
          </a:prstGeom>
          <a:noFill/>
          <a:ln w="9525">
            <a:solidFill>
              <a:srgbClr val="E4E4E7"/>
            </a:solidFill>
          </a:ln>
        </p:spPr>
      </p:sp>
      <p:sp>
        <p:nvSpPr>
          <p:cNvPr id="329" name="Text"/>
          <p:cNvSpPr/>
          <p:nvPr/>
        </p:nvSpPr>
        <p:spPr>
          <a:xfrm>
            <a:off x="704850" y="1762125"/>
            <a:ext cx="2381250" cy="266700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1300" b="1" i="0">
                <a:solidFill>
                  <a:srgbClr val="00C78B"/>
                </a:solidFill>
                <a:latin typeface="IBM Plex Mono"/>
              </a:rPr>
              <a:t>PASÓ</a:t>
            </a:r>
            <a:endParaRPr lang="es-PE" sz="1300"/>
          </a:p>
        </p:txBody>
      </p:sp>
      <p:sp>
        <p:nvSpPr>
          <p:cNvPr id="330" name="Card"/>
          <p:cNvSpPr/>
          <p:nvPr/>
        </p:nvSpPr>
        <p:spPr>
          <a:xfrm>
            <a:off x="704850" y="2190750"/>
            <a:ext cx="2286000" cy="1619250"/>
          </a:xfrm>
          <a:prstGeom prst="roundRect">
            <a:avLst/>
          </a:prstGeom>
          <a:solidFill>
            <a:srgbClr val="F1F1F3"/>
          </a:solidFill>
          <a:ln>
            <a:noFill/>
          </a:ln>
        </p:spPr>
      </p:sp>
      <p:sp>
        <p:nvSpPr>
          <p:cNvPr id="331" name="Accent"/>
          <p:cNvSpPr/>
          <p:nvPr/>
        </p:nvSpPr>
        <p:spPr>
          <a:xfrm>
            <a:off x="704850" y="2190750"/>
            <a:ext cx="57150" cy="1619250"/>
          </a:xfrm>
          <a:prstGeom prst="rect">
            <a:avLst/>
          </a:prstGeom>
          <a:solidFill>
            <a:srgbClr val="00C78B"/>
          </a:solidFill>
          <a:ln>
            <a:noFill/>
          </a:ln>
        </p:spPr>
      </p:sp>
      <p:sp>
        <p:nvSpPr>
          <p:cNvPr id="332" name="Text"/>
          <p:cNvSpPr/>
          <p:nvPr/>
        </p:nvSpPr>
        <p:spPr>
          <a:xfrm>
            <a:off x="914400" y="2362200"/>
            <a:ext cx="1885950" cy="161925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1100" b="1" i="0">
                <a:solidFill>
                  <a:srgbClr val="00C78B"/>
                </a:solidFill>
                <a:latin typeface="IBM Plex Mono"/>
              </a:rPr>
              <a:t>BACKEND</a:t>
            </a:r>
            <a:endParaRPr lang="es-PE" sz="1100"/>
          </a:p>
        </p:txBody>
      </p:sp>
      <p:sp>
        <p:nvSpPr>
          <p:cNvPr id="333" name="Text"/>
          <p:cNvSpPr/>
          <p:nvPr/>
        </p:nvSpPr>
        <p:spPr>
          <a:xfrm>
            <a:off x="914400" y="2600325"/>
            <a:ext cx="1885950" cy="314325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2100" b="1" i="0">
                <a:solidFill>
                  <a:srgbClr val="111111"/>
                </a:solidFill>
                <a:latin typeface="Roboto"/>
              </a:rPr>
              <a:t>606 passed</a:t>
            </a:r>
            <a:endParaRPr lang="es-PE" sz="2100"/>
          </a:p>
        </p:txBody>
      </p:sp>
      <p:sp>
        <p:nvSpPr>
          <p:cNvPr id="334" name="Text"/>
          <p:cNvSpPr/>
          <p:nvPr/>
        </p:nvSpPr>
        <p:spPr>
          <a:xfrm>
            <a:off x="914400" y="3009900"/>
            <a:ext cx="1885950" cy="638175"/>
          </a:xfrm>
          <a:noFill/>
          <a:ln>
            <a:noFill/>
          </a:ln>
        </p:spPr>
        <p:txBody>
          <a:bodyPr lIns="0" tIns="0" rIns="0" bIns="0" anchor="top"/>
          <a:lstStyle/>
          <a:p>
            <a:pPr algn="l" lvl="0">
              <a:buNone/>
            </a:pPr>
            <a:r>
              <a:rPr lang="es-PE" sz="1500" b="0" i="0">
                <a:solidFill>
                  <a:srgbClr val="202124"/>
                </a:solidFill>
                <a:latin typeface="Roboto"/>
              </a:rPr>
              <a:t>9 skips intencionales de módulos históricos retirados.</a:t>
            </a:r>
            <a:endParaRPr lang="es-PE" sz="1500"/>
          </a:p>
        </p:txBody>
      </p:sp>
      <p:sp>
        <p:nvSpPr>
          <p:cNvPr id="335" name="Card"/>
          <p:cNvSpPr/>
          <p:nvPr/>
        </p:nvSpPr>
        <p:spPr>
          <a:xfrm>
            <a:off x="3238500" y="2190750"/>
            <a:ext cx="2286000" cy="1619250"/>
          </a:xfrm>
          <a:prstGeom prst="roundRect">
            <a:avLst/>
          </a:prstGeom>
          <a:solidFill>
            <a:srgbClr val="F1F1F3"/>
          </a:solidFill>
          <a:ln>
            <a:noFill/>
          </a:ln>
        </p:spPr>
      </p:sp>
      <p:sp>
        <p:nvSpPr>
          <p:cNvPr id="336" name="Accent"/>
          <p:cNvSpPr/>
          <p:nvPr/>
        </p:nvSpPr>
        <p:spPr>
          <a:xfrm>
            <a:off x="3238500" y="2190750"/>
            <a:ext cx="57150" cy="1619250"/>
          </a:xfrm>
          <a:prstGeom prst="rect">
            <a:avLst/>
          </a:prstGeom>
          <a:solidFill>
            <a:srgbClr val="00C78B"/>
          </a:solidFill>
          <a:ln>
            <a:noFill/>
          </a:ln>
        </p:spPr>
      </p:sp>
      <p:sp>
        <p:nvSpPr>
          <p:cNvPr id="337" name="Text"/>
          <p:cNvSpPr/>
          <p:nvPr/>
        </p:nvSpPr>
        <p:spPr>
          <a:xfrm>
            <a:off x="3448050" y="2362200"/>
            <a:ext cx="1885950" cy="161925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1100" b="1" i="0">
                <a:solidFill>
                  <a:srgbClr val="00C78B"/>
                </a:solidFill>
                <a:latin typeface="IBM Plex Mono"/>
              </a:rPr>
              <a:t>FRONTEND</a:t>
            </a:r>
            <a:endParaRPr lang="es-PE" sz="1100"/>
          </a:p>
        </p:txBody>
      </p:sp>
      <p:sp>
        <p:nvSpPr>
          <p:cNvPr id="338" name="Text"/>
          <p:cNvSpPr/>
          <p:nvPr/>
        </p:nvSpPr>
        <p:spPr>
          <a:xfrm>
            <a:off x="3448050" y="2600325"/>
            <a:ext cx="1885950" cy="314325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2100" b="1" i="0">
                <a:solidFill>
                  <a:srgbClr val="111111"/>
                </a:solidFill>
                <a:latin typeface="Roboto"/>
              </a:rPr>
              <a:t>54 tests</a:t>
            </a:r>
            <a:endParaRPr lang="es-PE" sz="2100"/>
          </a:p>
        </p:txBody>
      </p:sp>
      <p:sp>
        <p:nvSpPr>
          <p:cNvPr id="339" name="Text"/>
          <p:cNvSpPr/>
          <p:nvPr/>
        </p:nvSpPr>
        <p:spPr>
          <a:xfrm>
            <a:off x="3448050" y="3009900"/>
            <a:ext cx="1885950" cy="638175"/>
          </a:xfrm>
          <a:noFill/>
          <a:ln>
            <a:noFill/>
          </a:ln>
        </p:spPr>
        <p:txBody>
          <a:bodyPr lIns="0" tIns="0" rIns="0" bIns="0" anchor="top"/>
          <a:lstStyle/>
          <a:p>
            <a:pPr algn="l" lvl="0">
              <a:buNone/>
            </a:pPr>
            <a:r>
              <a:rPr lang="es-PE" sz="1500" b="0" i="0">
                <a:solidFill>
                  <a:srgbClr val="202124"/>
                </a:solidFill>
                <a:latin typeface="Roboto"/>
              </a:rPr>
              <a:t>10 archivos Vitest + build Next exitoso.</a:t>
            </a:r>
            <a:endParaRPr lang="es-PE" sz="1500"/>
          </a:p>
        </p:txBody>
      </p:sp>
      <p:sp>
        <p:nvSpPr>
          <p:cNvPr id="340" name="Card"/>
          <p:cNvSpPr/>
          <p:nvPr/>
        </p:nvSpPr>
        <p:spPr>
          <a:xfrm>
            <a:off x="5772150" y="2190750"/>
            <a:ext cx="2286000" cy="1619250"/>
          </a:xfrm>
          <a:prstGeom prst="roundRect">
            <a:avLst/>
          </a:prstGeom>
          <a:solidFill>
            <a:srgbClr val="F1F1F3"/>
          </a:solidFill>
          <a:ln>
            <a:noFill/>
          </a:ln>
        </p:spPr>
      </p:sp>
      <p:sp>
        <p:nvSpPr>
          <p:cNvPr id="341" name="Accent"/>
          <p:cNvSpPr/>
          <p:nvPr/>
        </p:nvSpPr>
        <p:spPr>
          <a:xfrm>
            <a:off x="5772150" y="2190750"/>
            <a:ext cx="57150" cy="1619250"/>
          </a:xfrm>
          <a:prstGeom prst="rect">
            <a:avLst/>
          </a:prstGeom>
          <a:solidFill>
            <a:srgbClr val="00C78B"/>
          </a:solidFill>
          <a:ln>
            <a:noFill/>
          </a:ln>
        </p:spPr>
      </p:sp>
      <p:sp>
        <p:nvSpPr>
          <p:cNvPr id="342" name="Text"/>
          <p:cNvSpPr/>
          <p:nvPr/>
        </p:nvSpPr>
        <p:spPr>
          <a:xfrm>
            <a:off x="5981700" y="2362200"/>
            <a:ext cx="1885950" cy="161925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1100" b="1" i="0">
                <a:solidFill>
                  <a:srgbClr val="00C78B"/>
                </a:solidFill>
                <a:latin typeface="IBM Plex Mono"/>
              </a:rPr>
              <a:t>TOOLING</a:t>
            </a:r>
            <a:endParaRPr lang="es-PE" sz="1100"/>
          </a:p>
        </p:txBody>
      </p:sp>
      <p:sp>
        <p:nvSpPr>
          <p:cNvPr id="343" name="Text"/>
          <p:cNvSpPr/>
          <p:nvPr/>
        </p:nvSpPr>
        <p:spPr>
          <a:xfrm>
            <a:off x="5981700" y="2600325"/>
            <a:ext cx="1885950" cy="314325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2100" b="1" i="0">
                <a:solidFill>
                  <a:srgbClr val="111111"/>
                </a:solidFill>
                <a:latin typeface="Roboto"/>
              </a:rPr>
              <a:t>Ruff OK</a:t>
            </a:r>
            <a:endParaRPr lang="es-PE" sz="2100"/>
          </a:p>
        </p:txBody>
      </p:sp>
      <p:sp>
        <p:nvSpPr>
          <p:cNvPr id="344" name="Text"/>
          <p:cNvSpPr/>
          <p:nvPr/>
        </p:nvSpPr>
        <p:spPr>
          <a:xfrm>
            <a:off x="5981700" y="3009900"/>
            <a:ext cx="1885950" cy="638175"/>
          </a:xfrm>
          <a:noFill/>
          <a:ln>
            <a:noFill/>
          </a:ln>
        </p:spPr>
        <p:txBody>
          <a:bodyPr lIns="0" tIns="0" rIns="0" bIns="0" anchor="top"/>
          <a:lstStyle/>
          <a:p>
            <a:pPr algn="l" lvl="0">
              <a:buNone/>
            </a:pPr>
            <a:r>
              <a:rPr lang="es-PE" sz="1500" b="0" i="0">
                <a:solidFill>
                  <a:srgbClr val="202124"/>
                </a:solidFill>
                <a:latin typeface="Roboto"/>
              </a:rPr>
              <a:t>Compilación Python también verificada.</a:t>
            </a:r>
            <a:endParaRPr lang="es-PE" sz="1500"/>
          </a:p>
        </p:txBody>
      </p:sp>
      <p:sp>
        <p:nvSpPr>
          <p:cNvPr id="345" name="Card"/>
          <p:cNvSpPr/>
          <p:nvPr/>
        </p:nvSpPr>
        <p:spPr>
          <a:xfrm>
            <a:off x="8305800" y="2190750"/>
            <a:ext cx="2286000" cy="1619250"/>
          </a:xfrm>
          <a:prstGeom prst="roundRect">
            <a:avLst/>
          </a:prstGeom>
          <a:solidFill>
            <a:srgbClr val="F1F1F3"/>
          </a:solidFill>
          <a:ln>
            <a:noFill/>
          </a:ln>
        </p:spPr>
      </p:sp>
      <p:sp>
        <p:nvSpPr>
          <p:cNvPr id="346" name="Accent"/>
          <p:cNvSpPr/>
          <p:nvPr/>
        </p:nvSpPr>
        <p:spPr>
          <a:xfrm>
            <a:off x="8305800" y="2190750"/>
            <a:ext cx="57150" cy="1619250"/>
          </a:xfrm>
          <a:prstGeom prst="rect">
            <a:avLst/>
          </a:prstGeom>
          <a:solidFill>
            <a:srgbClr val="00C78B"/>
          </a:solidFill>
          <a:ln>
            <a:noFill/>
          </a:ln>
        </p:spPr>
      </p:sp>
      <p:sp>
        <p:nvSpPr>
          <p:cNvPr id="347" name="Text"/>
          <p:cNvSpPr/>
          <p:nvPr/>
        </p:nvSpPr>
        <p:spPr>
          <a:xfrm>
            <a:off x="8515350" y="2362200"/>
            <a:ext cx="1885950" cy="161925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1100" b="1" i="0">
                <a:solidFill>
                  <a:srgbClr val="00C78B"/>
                </a:solidFill>
                <a:latin typeface="IBM Plex Mono"/>
              </a:rPr>
              <a:t>DEPENDENCIAS</a:t>
            </a:r>
            <a:endParaRPr lang="es-PE" sz="1100"/>
          </a:p>
        </p:txBody>
      </p:sp>
      <p:sp>
        <p:nvSpPr>
          <p:cNvPr id="348" name="Text"/>
          <p:cNvSpPr/>
          <p:nvPr/>
        </p:nvSpPr>
        <p:spPr>
          <a:xfrm>
            <a:off x="8515350" y="2600325"/>
            <a:ext cx="1885950" cy="314325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2100" b="1" i="0">
                <a:solidFill>
                  <a:srgbClr val="111111"/>
                </a:solidFill>
                <a:latin typeface="Roboto"/>
              </a:rPr>
              <a:t>0 vulns</a:t>
            </a:r>
            <a:endParaRPr lang="es-PE" sz="2100"/>
          </a:p>
        </p:txBody>
      </p:sp>
      <p:sp>
        <p:nvSpPr>
          <p:cNvPr id="349" name="Text"/>
          <p:cNvSpPr/>
          <p:nvPr/>
        </p:nvSpPr>
        <p:spPr>
          <a:xfrm>
            <a:off x="8515350" y="3009900"/>
            <a:ext cx="1885950" cy="638175"/>
          </a:xfrm>
          <a:noFill/>
          <a:ln>
            <a:noFill/>
          </a:ln>
        </p:spPr>
        <p:txBody>
          <a:bodyPr lIns="0" tIns="0" rIns="0" bIns="0" anchor="top"/>
          <a:lstStyle/>
          <a:p>
            <a:pPr algn="l" lvl="0">
              <a:buNone/>
            </a:pPr>
            <a:r>
              <a:rPr lang="es-PE" sz="1500" b="0" i="0">
                <a:solidFill>
                  <a:srgbClr val="202124"/>
                </a:solidFill>
                <a:latin typeface="Roboto"/>
              </a:rPr>
              <a:t>npm audit offline --omit=dev.</a:t>
            </a:r>
            <a:endParaRPr lang="es-PE" sz="1500"/>
          </a:p>
        </p:txBody>
      </p:sp>
      <p:sp>
        <p:nvSpPr>
          <p:cNvPr id="350" name="Text"/>
          <p:cNvSpPr/>
          <p:nvPr/>
        </p:nvSpPr>
        <p:spPr>
          <a:xfrm>
            <a:off x="704850" y="4362450"/>
            <a:ext cx="2381250" cy="266700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1300" b="1" i="0">
                <a:solidFill>
                  <a:srgbClr val="FFA000"/>
                </a:solidFill>
                <a:latin typeface="IBM Plex Mono"/>
              </a:rPr>
              <a:t>AÚN NO CERRADO</a:t>
            </a:r>
            <a:endParaRPr lang="es-PE" sz="1300"/>
          </a:p>
        </p:txBody>
      </p:sp>
      <p:sp>
        <p:nvSpPr>
          <p:cNvPr id="351" name="Text"/>
          <p:cNvSpPr/>
          <p:nvPr/>
        </p:nvSpPr>
        <p:spPr>
          <a:xfrm>
            <a:off x="704850" y="4800600"/>
            <a:ext cx="9810750" cy="609600"/>
          </a:xfrm>
          <a:noFill/>
          <a:ln>
            <a:noFill/>
          </a:ln>
        </p:spPr>
        <p:txBody>
          <a:bodyPr lIns="0" tIns="0" rIns="0" bIns="0" anchor="top"/>
          <a:lstStyle/>
          <a:p>
            <a:pPr algn="l" lvl="0">
              <a:buNone/>
            </a:pPr>
            <a:r>
              <a:rPr lang="es-PE" sz="2300" b="1" i="0">
                <a:solidFill>
                  <a:srgbClr val="111111"/>
                </a:solidFill>
                <a:latin typeface="Lusitana"/>
              </a:rPr>
              <a:t>mypy: 3 errores pendientes · aceptación live Neo4j/OpenAI no ejecutada · no hay prueba registrada de carga, despliegue, recuperación ni e2e contra servicios externos</a:t>
            </a:r>
            <a:endParaRPr lang="es-PE" sz="2300"/>
          </a:p>
        </p:txBody>
      </p:sp>
      <p:sp>
        <p:nvSpPr>
          <p:cNvPr id="352" name="Rule"/>
          <p:cNvSpPr/>
          <p:nvPr/>
        </p:nvSpPr>
        <p:spPr>
          <a:xfrm rot="0">
            <a:off x="685800" y="6486525"/>
            <a:ext cx="10820400" cy="9525"/>
          </a:xfrm>
          <a:prstGeom prst="rect">
            <a:avLst/>
          </a:prstGeom>
          <a:noFill/>
          <a:ln w="9525">
            <a:solidFill>
              <a:srgbClr val="E4E4E7"/>
            </a:solidFill>
          </a:ln>
        </p:spPr>
      </p:sp>
      <p:sp>
        <p:nvSpPr>
          <p:cNvPr id="353" name="Text"/>
          <p:cNvSpPr/>
          <p:nvPr/>
        </p:nvSpPr>
        <p:spPr>
          <a:xfrm>
            <a:off x="685800" y="6553200"/>
            <a:ext cx="8191500" cy="142875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900" b="0" i="0">
                <a:solidFill>
                  <a:srgbClr val="97999B"/>
                </a:solidFill>
                <a:latin typeface="IBM Plex Mono"/>
              </a:rPr>
              <a:t>CIAR · estado técnico · 26.08.2026 · fuente: pytest, Ruff, mypy, compileall, npm run check, npm audit offline</a:t>
            </a:r>
            <a:endParaRPr lang="es-PE" sz="900"/>
          </a:p>
        </p:txBody>
      </p:sp>
      <p:sp>
        <p:nvSpPr>
          <p:cNvPr id="354" name="Text"/>
          <p:cNvSpPr/>
          <p:nvPr/>
        </p:nvSpPr>
        <p:spPr>
          <a:xfrm>
            <a:off x="10763250" y="6553200"/>
            <a:ext cx="742950" cy="142875"/>
          </a:xfrm>
          <a:noFill/>
          <a:ln>
            <a:noFill/>
          </a:ln>
        </p:spPr>
        <p:txBody>
          <a:bodyPr lIns="0" tIns="0" rIns="0" bIns="0" anchor="mid"/>
          <a:lstStyle/>
          <a:p>
            <a:pPr algn="r" lvl="0">
              <a:buNone/>
            </a:pPr>
            <a:r>
              <a:rPr lang="es-PE" sz="1000" b="1" i="0">
                <a:solidFill>
                  <a:srgbClr val="FF5117"/>
                </a:solidFill>
                <a:latin typeface="Roboto"/>
              </a:rPr>
              <a:t>ULIMA</a:t>
            </a:r>
            <a:endParaRPr lang="es-PE"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</a:xfrm>
        <a:prstGeom prst="rect">
          <a:avLst/>
        </a:prstGeom>
      </p:grpSpPr>
      <p:sp>
        <p:nvSpPr>
          <p:cNvPr id="355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</p:sp>
      <p:sp>
        <p:nvSpPr>
          <p:cNvPr id="356" name="Slide title"/>
          <p:cNvSpPr/>
          <p:nvPr/>
        </p:nvSpPr>
        <p:spPr>
          <a:xfrm>
            <a:off x="685800" y="533400"/>
            <a:ext cx="10477500" cy="514350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3400" b="1" i="0">
                <a:solidFill>
                  <a:srgbClr val="111111"/>
                </a:solidFill>
                <a:latin typeface="Roboto"/>
              </a:rPr>
              <a:t>Tres frentes concentran el riesgo inmediato</a:t>
            </a:r>
            <a:endParaRPr lang="es-PE" sz="3400"/>
          </a:p>
        </p:txBody>
      </p:sp>
      <p:sp>
        <p:nvSpPr>
          <p:cNvPr id="357" name="Text"/>
          <p:cNvSpPr/>
          <p:nvPr/>
        </p:nvSpPr>
        <p:spPr>
          <a:xfrm>
            <a:off x="704850" y="1076325"/>
            <a:ext cx="9334500" cy="247650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1500" b="0" i="0">
                <a:solidFill>
                  <a:srgbClr val="97999B"/>
                </a:solidFill>
                <a:latin typeface="Roboto"/>
              </a:rPr>
              <a:t>Prioridades técnicas para pasar de pre-productivo a operable</a:t>
            </a:r>
            <a:endParaRPr lang="es-PE" sz="1500"/>
          </a:p>
        </p:txBody>
      </p:sp>
      <p:sp>
        <p:nvSpPr>
          <p:cNvPr id="358" name="Rule"/>
          <p:cNvSpPr/>
          <p:nvPr/>
        </p:nvSpPr>
        <p:spPr>
          <a:xfrm rot="0">
            <a:off x="685800" y="1428750"/>
            <a:ext cx="10820400" cy="9525"/>
          </a:xfrm>
          <a:prstGeom prst="rect">
            <a:avLst/>
          </a:prstGeom>
          <a:noFill/>
          <a:ln w="9525">
            <a:solidFill>
              <a:srgbClr val="E4E4E7"/>
            </a:solidFill>
          </a:ln>
        </p:spPr>
      </p:sp>
      <p:sp>
        <p:nvSpPr>
          <p:cNvPr id="359" name="Card"/>
          <p:cNvSpPr/>
          <p:nvPr/>
        </p:nvSpPr>
        <p:spPr>
          <a:xfrm>
            <a:off x="704850" y="2047875"/>
            <a:ext cx="3333750" cy="2762250"/>
          </a:xfrm>
          <a:prstGeom prst="roundRect">
            <a:avLst/>
          </a:prstGeom>
          <a:solidFill>
            <a:srgbClr val="F1F1F3"/>
          </a:solidFill>
          <a:ln>
            <a:noFill/>
          </a:ln>
        </p:spPr>
      </p:sp>
      <p:sp>
        <p:nvSpPr>
          <p:cNvPr id="360" name="Accent"/>
          <p:cNvSpPr/>
          <p:nvPr/>
        </p:nvSpPr>
        <p:spPr>
          <a:xfrm>
            <a:off x="704850" y="2047875"/>
            <a:ext cx="57150" cy="2762250"/>
          </a:xfrm>
          <a:prstGeom prst="rect">
            <a:avLst/>
          </a:prstGeom>
          <a:solidFill>
            <a:srgbClr val="D83A2E"/>
          </a:solidFill>
          <a:ln>
            <a:noFill/>
          </a:ln>
        </p:spPr>
      </p:sp>
      <p:sp>
        <p:nvSpPr>
          <p:cNvPr id="361" name="Text"/>
          <p:cNvSpPr/>
          <p:nvPr/>
        </p:nvSpPr>
        <p:spPr>
          <a:xfrm>
            <a:off x="914400" y="2219325"/>
            <a:ext cx="2933700" cy="161925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1100" b="1" i="0">
                <a:solidFill>
                  <a:srgbClr val="D83A2E"/>
                </a:solidFill>
                <a:latin typeface="IBM Plex Mono"/>
              </a:rPr>
              <a:t>01 · ALTA</a:t>
            </a:r>
            <a:endParaRPr lang="es-PE" sz="1100"/>
          </a:p>
        </p:txBody>
      </p:sp>
      <p:sp>
        <p:nvSpPr>
          <p:cNvPr id="362" name="Text"/>
          <p:cNvSpPr/>
          <p:nvPr/>
        </p:nvSpPr>
        <p:spPr>
          <a:xfrm>
            <a:off x="914400" y="2457450"/>
            <a:ext cx="2933700" cy="314325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2100" b="1" i="0">
                <a:solidFill>
                  <a:srgbClr val="111111"/>
                </a:solidFill>
                <a:latin typeface="Roboto"/>
              </a:rPr>
              <a:t>Aceptar en vivo</a:t>
            </a:r>
            <a:endParaRPr lang="es-PE" sz="2100"/>
          </a:p>
        </p:txBody>
      </p:sp>
      <p:sp>
        <p:nvSpPr>
          <p:cNvPr id="363" name="Text"/>
          <p:cNvSpPr/>
          <p:nvPr/>
        </p:nvSpPr>
        <p:spPr>
          <a:xfrm>
            <a:off x="914400" y="2867025"/>
            <a:ext cx="2933700" cy="1781175"/>
          </a:xfrm>
          <a:noFill/>
          <a:ln>
            <a:noFill/>
          </a:ln>
        </p:spPr>
        <p:txBody>
          <a:bodyPr lIns="0" tIns="0" rIns="0" bIns="0" anchor="top"/>
          <a:lstStyle/>
          <a:p>
            <a:pPr algn="l" lvl="0">
              <a:buNone/>
            </a:pPr>
            <a:r>
              <a:rPr lang="es-PE" sz="1500" b="0" i="0">
                <a:solidFill>
                  <a:srgbClr val="202124"/>
                </a:solidFill>
                <a:latin typeface="Roboto"/>
              </a:rPr>
              <a:t>Ejecutar preguntas de aceptación contra Neo4j real; revisar schema, tiempos, warnings, errores y respuestas. Repetir con dashboard.</a:t>
            </a:r>
            <a:endParaRPr lang="es-PE" sz="1500"/>
          </a:p>
        </p:txBody>
      </p:sp>
      <p:sp>
        <p:nvSpPr>
          <p:cNvPr id="364" name="Card"/>
          <p:cNvSpPr/>
          <p:nvPr/>
        </p:nvSpPr>
        <p:spPr>
          <a:xfrm>
            <a:off x="4429125" y="2047875"/>
            <a:ext cx="3333750" cy="2762250"/>
          </a:xfrm>
          <a:prstGeom prst="roundRect">
            <a:avLst/>
          </a:prstGeom>
          <a:solidFill>
            <a:srgbClr val="F1F1F3"/>
          </a:solidFill>
          <a:ln>
            <a:noFill/>
          </a:ln>
        </p:spPr>
      </p:sp>
      <p:sp>
        <p:nvSpPr>
          <p:cNvPr id="365" name="Accent"/>
          <p:cNvSpPr/>
          <p:nvPr/>
        </p:nvSpPr>
        <p:spPr>
          <a:xfrm>
            <a:off x="4429125" y="2047875"/>
            <a:ext cx="57150" cy="2762250"/>
          </a:xfrm>
          <a:prstGeom prst="rect">
            <a:avLst/>
          </a:prstGeom>
          <a:solidFill>
            <a:srgbClr val="FF5117"/>
          </a:solidFill>
          <a:ln>
            <a:noFill/>
          </a:ln>
        </p:spPr>
      </p:sp>
      <p:sp>
        <p:nvSpPr>
          <p:cNvPr id="366" name="Text"/>
          <p:cNvSpPr/>
          <p:nvPr/>
        </p:nvSpPr>
        <p:spPr>
          <a:xfrm>
            <a:off x="4638675" y="2219325"/>
            <a:ext cx="2933700" cy="161925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1100" b="1" i="0">
                <a:solidFill>
                  <a:srgbClr val="FF5117"/>
                </a:solidFill>
                <a:latin typeface="IBM Plex Mono"/>
              </a:rPr>
              <a:t>02 · ALTA</a:t>
            </a:r>
            <a:endParaRPr lang="es-PE" sz="1100"/>
          </a:p>
        </p:txBody>
      </p:sp>
      <p:sp>
        <p:nvSpPr>
          <p:cNvPr id="367" name="Text"/>
          <p:cNvSpPr/>
          <p:nvPr/>
        </p:nvSpPr>
        <p:spPr>
          <a:xfrm>
            <a:off x="4638675" y="2457450"/>
            <a:ext cx="2933700" cy="314325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2100" b="1" i="0">
                <a:solidFill>
                  <a:srgbClr val="111111"/>
                </a:solidFill>
                <a:latin typeface="Roboto"/>
              </a:rPr>
              <a:t>Proteger la frontera</a:t>
            </a:r>
            <a:endParaRPr lang="es-PE" sz="2100"/>
          </a:p>
        </p:txBody>
      </p:sp>
      <p:sp>
        <p:nvSpPr>
          <p:cNvPr id="368" name="Text"/>
          <p:cNvSpPr/>
          <p:nvPr/>
        </p:nvSpPr>
        <p:spPr>
          <a:xfrm>
            <a:off x="4638675" y="2867025"/>
            <a:ext cx="2933700" cy="1781175"/>
          </a:xfrm>
          <a:noFill/>
          <a:ln>
            <a:noFill/>
          </a:ln>
        </p:spPr>
        <p:txBody>
          <a:bodyPr lIns="0" tIns="0" rIns="0" bIns="0" anchor="top"/>
          <a:lstStyle/>
          <a:p>
            <a:pPr algn="l" lvl="0">
              <a:buNone/>
            </a:pPr>
            <a:r>
              <a:rPr lang="es-PE" sz="1500" b="0" i="0">
                <a:solidFill>
                  <a:srgbClr val="202124"/>
                </a:solidFill>
                <a:latin typeface="Roboto"/>
              </a:rPr>
              <a:t>Definir autenticación, autorización, rate limiting, concurrencia, secretos y estrategia de identidad compartida.</a:t>
            </a:r>
            <a:endParaRPr lang="es-PE" sz="1500"/>
          </a:p>
        </p:txBody>
      </p:sp>
      <p:sp>
        <p:nvSpPr>
          <p:cNvPr id="369" name="Card"/>
          <p:cNvSpPr/>
          <p:nvPr/>
        </p:nvSpPr>
        <p:spPr>
          <a:xfrm>
            <a:off x="8153400" y="2047875"/>
            <a:ext cx="3333750" cy="2762250"/>
          </a:xfrm>
          <a:prstGeom prst="roundRect">
            <a:avLst/>
          </a:prstGeom>
          <a:solidFill>
            <a:srgbClr val="F1F1F3"/>
          </a:solidFill>
          <a:ln>
            <a:noFill/>
          </a:ln>
        </p:spPr>
      </p:sp>
      <p:sp>
        <p:nvSpPr>
          <p:cNvPr id="370" name="Accent"/>
          <p:cNvSpPr/>
          <p:nvPr/>
        </p:nvSpPr>
        <p:spPr>
          <a:xfrm>
            <a:off x="8153400" y="2047875"/>
            <a:ext cx="57150" cy="2762250"/>
          </a:xfrm>
          <a:prstGeom prst="rect">
            <a:avLst/>
          </a:prstGeom>
          <a:solidFill>
            <a:srgbClr val="FFA000"/>
          </a:solidFill>
          <a:ln>
            <a:noFill/>
          </a:ln>
        </p:spPr>
      </p:sp>
      <p:sp>
        <p:nvSpPr>
          <p:cNvPr id="371" name="Text"/>
          <p:cNvSpPr/>
          <p:nvPr/>
        </p:nvSpPr>
        <p:spPr>
          <a:xfrm>
            <a:off x="8362950" y="2219325"/>
            <a:ext cx="2933700" cy="161925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1100" b="1" i="0">
                <a:solidFill>
                  <a:srgbClr val="FFA000"/>
                </a:solidFill>
                <a:latin typeface="IBM Plex Mono"/>
              </a:rPr>
              <a:t>03 · MEDIA</a:t>
            </a:r>
            <a:endParaRPr lang="es-PE" sz="1100"/>
          </a:p>
        </p:txBody>
      </p:sp>
      <p:sp>
        <p:nvSpPr>
          <p:cNvPr id="372" name="Text"/>
          <p:cNvSpPr/>
          <p:nvPr/>
        </p:nvSpPr>
        <p:spPr>
          <a:xfrm>
            <a:off x="8362950" y="2457450"/>
            <a:ext cx="2933700" cy="314325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2100" b="1" i="0">
                <a:solidFill>
                  <a:srgbClr val="111111"/>
                </a:solidFill>
                <a:latin typeface="Roboto"/>
              </a:rPr>
              <a:t>Reconciliar la historia</a:t>
            </a:r>
            <a:endParaRPr lang="es-PE" sz="2100"/>
          </a:p>
        </p:txBody>
      </p:sp>
      <p:sp>
        <p:nvSpPr>
          <p:cNvPr id="373" name="Text"/>
          <p:cNvSpPr/>
          <p:nvPr/>
        </p:nvSpPr>
        <p:spPr>
          <a:xfrm>
            <a:off x="8362950" y="2867025"/>
            <a:ext cx="2933700" cy="1781175"/>
          </a:xfrm>
          <a:noFill/>
          <a:ln>
            <a:noFill/>
          </a:ln>
        </p:spPr>
        <p:txBody>
          <a:bodyPr lIns="0" tIns="0" rIns="0" bIns="0" anchor="top"/>
          <a:lstStyle/>
          <a:p>
            <a:pPr algn="l" lvl="0">
              <a:buNone/>
            </a:pPr>
            <a:r>
              <a:rPr lang="es-PE" sz="1500" b="0" i="0">
                <a:solidFill>
                  <a:srgbClr val="202124"/>
                </a:solidFill>
                <a:latin typeface="Roboto"/>
              </a:rPr>
              <a:t>Marcar como históricos los documentos de planner/20 plantillas/memoria durable y corregir referencias a rutas eliminadas.</a:t>
            </a:r>
            <a:endParaRPr lang="es-PE" sz="1500"/>
          </a:p>
        </p:txBody>
      </p:sp>
      <p:sp>
        <p:nvSpPr>
          <p:cNvPr id="374" name="Text"/>
          <p:cNvSpPr/>
          <p:nvPr/>
        </p:nvSpPr>
        <p:spPr>
          <a:xfrm>
            <a:off x="704850" y="5400675"/>
            <a:ext cx="10763250" cy="381000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2100" b="1" i="0">
                <a:solidFill>
                  <a:srgbClr val="111111"/>
                </a:solidFill>
                <a:latin typeface="Lusitana"/>
              </a:rPr>
              <a:t>La próxima iteración debe reducir incertidumbre operativa, no aumentar superficie funcional sin aceptación.</a:t>
            </a:r>
            <a:endParaRPr lang="es-PE" sz="2100"/>
          </a:p>
        </p:txBody>
      </p:sp>
      <p:sp>
        <p:nvSpPr>
          <p:cNvPr id="375" name="Rule"/>
          <p:cNvSpPr/>
          <p:nvPr/>
        </p:nvSpPr>
        <p:spPr>
          <a:xfrm rot="0">
            <a:off x="685800" y="6486525"/>
            <a:ext cx="10820400" cy="9525"/>
          </a:xfrm>
          <a:prstGeom prst="rect">
            <a:avLst/>
          </a:prstGeom>
          <a:noFill/>
          <a:ln w="9525">
            <a:solidFill>
              <a:srgbClr val="E4E4E7"/>
            </a:solidFill>
          </a:ln>
        </p:spPr>
      </p:sp>
      <p:sp>
        <p:nvSpPr>
          <p:cNvPr id="376" name="Text"/>
          <p:cNvSpPr/>
          <p:nvPr/>
        </p:nvSpPr>
        <p:spPr>
          <a:xfrm>
            <a:off x="685800" y="6553200"/>
            <a:ext cx="8191500" cy="142875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900" b="0" i="0">
                <a:solidFill>
                  <a:srgbClr val="97999B"/>
                </a:solidFill>
                <a:latin typeface="IBM Plex Mono"/>
              </a:rPr>
              <a:t>CIAR · estado técnico · 26.08.2026 · fuente: informe técnico consolidado y evidencia del repositorio</a:t>
            </a:r>
            <a:endParaRPr lang="es-PE" sz="900"/>
          </a:p>
        </p:txBody>
      </p:sp>
      <p:sp>
        <p:nvSpPr>
          <p:cNvPr id="377" name="Text"/>
          <p:cNvSpPr/>
          <p:nvPr/>
        </p:nvSpPr>
        <p:spPr>
          <a:xfrm>
            <a:off x="10763250" y="6553200"/>
            <a:ext cx="742950" cy="142875"/>
          </a:xfrm>
          <a:noFill/>
          <a:ln>
            <a:noFill/>
          </a:ln>
        </p:spPr>
        <p:txBody>
          <a:bodyPr lIns="0" tIns="0" rIns="0" bIns="0" anchor="mid"/>
          <a:lstStyle/>
          <a:p>
            <a:pPr algn="r" lvl="0">
              <a:buNone/>
            </a:pPr>
            <a:r>
              <a:rPr lang="es-PE" sz="1000" b="1" i="0">
                <a:solidFill>
                  <a:srgbClr val="FF5117"/>
                </a:solidFill>
                <a:latin typeface="Roboto"/>
              </a:rPr>
              <a:t>ULIMA</a:t>
            </a:r>
            <a:endParaRPr lang="es-PE" sz="1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</a:xfrm>
        <a:prstGeom prst="rect">
          <a:avLst/>
        </a:prstGeom>
      </p:grpSpPr>
      <p:sp>
        <p:nvSpPr>
          <p:cNvPr id="378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</p:sp>
      <p:sp>
        <p:nvSpPr>
          <p:cNvPr id="379" name="Shape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F5117"/>
          </a:solidFill>
          <a:ln>
            <a:noFill/>
          </a:ln>
        </p:spPr>
      </p:sp>
      <p:sp>
        <p:nvSpPr>
          <p:cNvPr id="380" name="Text"/>
          <p:cNvSpPr/>
          <p:nvPr/>
        </p:nvSpPr>
        <p:spPr>
          <a:xfrm>
            <a:off x="704850" y="742950"/>
            <a:ext cx="3048000" cy="238125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1300" b="1" i="0">
                <a:solidFill>
                  <a:srgbClr val="FF5117"/>
                </a:solidFill>
                <a:latin typeface="IBM Plex Mono"/>
              </a:rPr>
              <a:t>CIAR · CIERRE TÉCNICO</a:t>
            </a:r>
            <a:endParaRPr lang="es-PE" sz="1300"/>
          </a:p>
        </p:txBody>
      </p:sp>
      <p:sp>
        <p:nvSpPr>
          <p:cNvPr id="381" name="Text"/>
          <p:cNvSpPr/>
          <p:nvPr/>
        </p:nvSpPr>
        <p:spPr>
          <a:xfrm>
            <a:off x="704850" y="1752600"/>
            <a:ext cx="8858250" cy="800100"/>
          </a:xfrm>
          <a:noFill/>
          <a:ln>
            <a:noFill/>
          </a:ln>
        </p:spPr>
        <p:txBody>
          <a:bodyPr lIns="0" tIns="0" rIns="0" bIns="0" anchor="top"/>
          <a:lstStyle/>
          <a:p>
            <a:pPr algn="l" lvl="0">
              <a:buNone/>
            </a:pPr>
            <a:r>
              <a:rPr lang="es-PE" sz="4300" b="1" i="0">
                <a:solidFill>
                  <a:srgbClr val="111111"/>
                </a:solidFill>
                <a:latin typeface="Roboto"/>
              </a:rPr>
              <a:t>Siguiente hito:</a:t>
            </a:r>
            <a:endParaRPr lang="es-PE" sz="4300"/>
          </a:p>
          <a:p>
            <a:pPr algn="l" lvl="0">
              <a:buNone/>
            </a:pPr>
            <a:r>
              <a:rPr lang="es-PE" sz="4300" b="1" i="0">
                <a:solidFill>
                  <a:srgbClr val="111111"/>
                </a:solidFill>
                <a:latin typeface="Roboto"/>
              </a:rPr>
              <a:t>aceptación end-to-end</a:t>
            </a:r>
            <a:endParaRPr lang="es-PE" sz="4300"/>
          </a:p>
        </p:txBody>
      </p:sp>
      <p:sp>
        <p:nvSpPr>
          <p:cNvPr id="382" name="Text"/>
          <p:cNvSpPr/>
          <p:nvPr/>
        </p:nvSpPr>
        <p:spPr>
          <a:xfrm>
            <a:off x="742950" y="3067050"/>
            <a:ext cx="7239000" cy="476250"/>
          </a:xfrm>
          <a:noFill/>
          <a:ln>
            <a:noFill/>
          </a:ln>
        </p:spPr>
        <p:txBody>
          <a:bodyPr lIns="0" tIns="0" rIns="0" bIns="0" anchor="top"/>
          <a:lstStyle/>
          <a:p>
            <a:pPr algn="l" lvl="0">
              <a:buNone/>
            </a:pPr>
            <a:r>
              <a:rPr lang="es-PE" sz="2400" b="0" i="0">
                <a:solidFill>
                  <a:srgbClr val="202124"/>
                </a:solidFill>
                <a:latin typeface="Lusitana"/>
              </a:rPr>
              <a:t>Con datos reales, controles de frontera y una documentación reconciliada con el código.</a:t>
            </a:r>
            <a:endParaRPr lang="es-PE" sz="2400"/>
          </a:p>
        </p:txBody>
      </p:sp>
      <p:sp>
        <p:nvSpPr>
          <p:cNvPr id="383" name="Rule"/>
          <p:cNvSpPr/>
          <p:nvPr/>
        </p:nvSpPr>
        <p:spPr>
          <a:xfrm rot="0">
            <a:off x="742950" y="4038600"/>
            <a:ext cx="4019550" cy="38100"/>
          </a:xfrm>
          <a:prstGeom prst="rect">
            <a:avLst/>
          </a:prstGeom>
          <a:noFill/>
          <a:ln w="38100">
            <a:solidFill>
              <a:srgbClr val="FF5117"/>
            </a:solidFill>
          </a:ln>
        </p:spPr>
      </p:sp>
      <p:sp>
        <p:nvSpPr>
          <p:cNvPr id="384" name="Dot"/>
          <p:cNvSpPr/>
          <p:nvPr/>
        </p:nvSpPr>
        <p:spPr>
          <a:xfrm>
            <a:off x="800100" y="4543425"/>
            <a:ext cx="95250" cy="95250"/>
          </a:xfrm>
          <a:prstGeom prst="ellipse">
            <a:avLst/>
          </a:prstGeom>
          <a:solidFill>
            <a:srgbClr val="00C78B"/>
          </a:solidFill>
          <a:ln>
            <a:noFill/>
          </a:ln>
        </p:spPr>
      </p:sp>
      <p:sp>
        <p:nvSpPr>
          <p:cNvPr id="385" name="Text"/>
          <p:cNvSpPr/>
          <p:nvPr/>
        </p:nvSpPr>
        <p:spPr>
          <a:xfrm>
            <a:off x="1028700" y="4495800"/>
            <a:ext cx="4762500" cy="209550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1600" b="0" i="0">
                <a:solidFill>
                  <a:srgbClr val="202124"/>
                </a:solidFill>
                <a:latin typeface="Roboto"/>
              </a:rPr>
              <a:t>pregunta real contra Neo4j</a:t>
            </a:r>
            <a:endParaRPr lang="es-PE" sz="1600"/>
          </a:p>
        </p:txBody>
      </p:sp>
      <p:sp>
        <p:nvSpPr>
          <p:cNvPr id="386" name="Dot"/>
          <p:cNvSpPr/>
          <p:nvPr/>
        </p:nvSpPr>
        <p:spPr>
          <a:xfrm>
            <a:off x="800100" y="4867275"/>
            <a:ext cx="95250" cy="95250"/>
          </a:xfrm>
          <a:prstGeom prst="ellipse">
            <a:avLst/>
          </a:prstGeom>
          <a:solidFill>
            <a:srgbClr val="00C78B"/>
          </a:solidFill>
          <a:ln>
            <a:noFill/>
          </a:ln>
        </p:spPr>
      </p:sp>
      <p:sp>
        <p:nvSpPr>
          <p:cNvPr id="387" name="Text"/>
          <p:cNvSpPr/>
          <p:nvPr/>
        </p:nvSpPr>
        <p:spPr>
          <a:xfrm>
            <a:off x="1028700" y="4819650"/>
            <a:ext cx="4762500" cy="209550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1600" b="0" i="0">
                <a:solidFill>
                  <a:srgbClr val="202124"/>
                </a:solidFill>
                <a:latin typeface="Roboto"/>
              </a:rPr>
              <a:t>prueba de schema y guardia</a:t>
            </a:r>
            <a:endParaRPr lang="es-PE" sz="1600"/>
          </a:p>
        </p:txBody>
      </p:sp>
      <p:sp>
        <p:nvSpPr>
          <p:cNvPr id="388" name="Dot"/>
          <p:cNvSpPr/>
          <p:nvPr/>
        </p:nvSpPr>
        <p:spPr>
          <a:xfrm>
            <a:off x="800100" y="5191125"/>
            <a:ext cx="95250" cy="95250"/>
          </a:xfrm>
          <a:prstGeom prst="ellipse">
            <a:avLst/>
          </a:prstGeom>
          <a:solidFill>
            <a:srgbClr val="00C78B"/>
          </a:solidFill>
          <a:ln>
            <a:noFill/>
          </a:ln>
        </p:spPr>
      </p:sp>
      <p:sp>
        <p:nvSpPr>
          <p:cNvPr id="389" name="Text"/>
          <p:cNvSpPr/>
          <p:nvPr/>
        </p:nvSpPr>
        <p:spPr>
          <a:xfrm>
            <a:off x="1028700" y="5143500"/>
            <a:ext cx="4762500" cy="209550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1600" b="0" i="0">
                <a:solidFill>
                  <a:srgbClr val="202124"/>
                </a:solidFill>
                <a:latin typeface="Roboto"/>
              </a:rPr>
              <a:t>verificación de dashboard</a:t>
            </a:r>
            <a:endParaRPr lang="es-PE" sz="1600"/>
          </a:p>
        </p:txBody>
      </p:sp>
      <p:sp>
        <p:nvSpPr>
          <p:cNvPr id="390" name="Dot"/>
          <p:cNvSpPr/>
          <p:nvPr/>
        </p:nvSpPr>
        <p:spPr>
          <a:xfrm>
            <a:off x="800100" y="5514975"/>
            <a:ext cx="95250" cy="95250"/>
          </a:xfrm>
          <a:prstGeom prst="ellipse">
            <a:avLst/>
          </a:prstGeom>
          <a:solidFill>
            <a:srgbClr val="00C78B"/>
          </a:solidFill>
          <a:ln>
            <a:noFill/>
          </a:ln>
        </p:spPr>
      </p:sp>
      <p:sp>
        <p:nvSpPr>
          <p:cNvPr id="391" name="Text"/>
          <p:cNvSpPr/>
          <p:nvPr/>
        </p:nvSpPr>
        <p:spPr>
          <a:xfrm>
            <a:off x="1028700" y="5467350"/>
            <a:ext cx="4762500" cy="209550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1600" b="0" i="0">
                <a:solidFill>
                  <a:srgbClr val="202124"/>
                </a:solidFill>
                <a:latin typeface="Roboto"/>
              </a:rPr>
              <a:t>runbook de operación y rollback</a:t>
            </a:r>
            <a:endParaRPr lang="es-PE" sz="1600"/>
          </a:p>
        </p:txBody>
      </p:sp>
      <p:sp>
        <p:nvSpPr>
          <p:cNvPr id="392" name="Shape"/>
          <p:cNvSpPr/>
          <p:nvPr/>
        </p:nvSpPr>
        <p:spPr>
          <a:xfrm>
            <a:off x="8572500" y="1790700"/>
            <a:ext cx="2381250" cy="2381250"/>
          </a:xfrm>
          <a:prstGeom prst="roundRect">
            <a:avLst/>
          </a:prstGeom>
          <a:solidFill>
            <a:srgbClr val="111111"/>
          </a:solidFill>
          <a:ln>
            <a:noFill/>
          </a:ln>
        </p:spPr>
      </p:sp>
      <p:sp>
        <p:nvSpPr>
          <p:cNvPr id="393" name="Text"/>
          <p:cNvSpPr/>
          <p:nvPr/>
        </p:nvSpPr>
        <p:spPr>
          <a:xfrm>
            <a:off x="8877300" y="2152650"/>
            <a:ext cx="1771650" cy="333375"/>
          </a:xfrm>
          <a:noFill/>
          <a:ln>
            <a:noFill/>
          </a:ln>
        </p:spPr>
        <p:txBody>
          <a:bodyPr lIns="0" tIns="0" rIns="0" bIns="0" anchor="mid"/>
          <a:lstStyle/>
          <a:p>
            <a:pPr algn="c" lvl="0">
              <a:buNone/>
            </a:pPr>
            <a:r>
              <a:rPr lang="es-PE" sz="2800" b="1" i="0">
                <a:solidFill>
                  <a:srgbClr val="FF5117"/>
                </a:solidFill>
                <a:latin typeface="Roboto"/>
              </a:rPr>
              <a:t>CIAR</a:t>
            </a:r>
            <a:endParaRPr lang="es-PE" sz="2800"/>
          </a:p>
        </p:txBody>
      </p:sp>
      <p:sp>
        <p:nvSpPr>
          <p:cNvPr id="394" name="Text"/>
          <p:cNvSpPr/>
          <p:nvPr/>
        </p:nvSpPr>
        <p:spPr>
          <a:xfrm>
            <a:off x="8877300" y="2724150"/>
            <a:ext cx="1771650" cy="933450"/>
          </a:xfrm>
          <a:noFill/>
          <a:ln>
            <a:noFill/>
          </a:ln>
        </p:spPr>
        <p:txBody>
          <a:bodyPr lIns="0" tIns="0" rIns="0" bIns="0" anchor="mid"/>
          <a:lstStyle/>
          <a:p>
            <a:pPr algn="c" lvl="0">
              <a:buNone/>
            </a:pPr>
            <a:r>
              <a:rPr lang="es-PE" sz="2500" b="1" i="0">
                <a:solidFill>
                  <a:srgbClr val="FAFAFA"/>
                </a:solidFill>
                <a:latin typeface="Lusitana"/>
              </a:rPr>
              <a:t>consulta</a:t>
            </a:r>
            <a:endParaRPr lang="es-PE" sz="2500"/>
          </a:p>
          <a:p>
            <a:pPr algn="c" lvl="0">
              <a:buNone/>
            </a:pPr>
            <a:r>
              <a:rPr lang="es-PE" sz="2500" b="1" i="0">
                <a:solidFill>
                  <a:srgbClr val="FAFAFA"/>
                </a:solidFill>
                <a:latin typeface="Lusitana"/>
              </a:rPr>
              <a:t>curación</a:t>
            </a:r>
            <a:endParaRPr lang="es-PE" sz="2500"/>
          </a:p>
          <a:p>
            <a:pPr algn="c" lvl="0">
              <a:buNone/>
            </a:pPr>
            <a:r>
              <a:rPr lang="es-PE" sz="2500" b="1" i="0">
                <a:solidFill>
                  <a:srgbClr val="FAFAFA"/>
                </a:solidFill>
                <a:latin typeface="Lusitana"/>
              </a:rPr>
              <a:t>criterio</a:t>
            </a:r>
            <a:endParaRPr lang="es-PE" sz="2500"/>
          </a:p>
        </p:txBody>
      </p:sp>
      <p:sp>
        <p:nvSpPr>
          <p:cNvPr id="395" name="Rule"/>
          <p:cNvSpPr/>
          <p:nvPr/>
        </p:nvSpPr>
        <p:spPr>
          <a:xfrm rot="0">
            <a:off x="685800" y="6486525"/>
            <a:ext cx="10820400" cy="9525"/>
          </a:xfrm>
          <a:prstGeom prst="rect">
            <a:avLst/>
          </a:prstGeom>
          <a:noFill/>
          <a:ln w="9525">
            <a:solidFill>
              <a:srgbClr val="E4E4E7"/>
            </a:solidFill>
          </a:ln>
        </p:spPr>
      </p:sp>
      <p:sp>
        <p:nvSpPr>
          <p:cNvPr id="396" name="Text"/>
          <p:cNvSpPr/>
          <p:nvPr/>
        </p:nvSpPr>
        <p:spPr>
          <a:xfrm>
            <a:off x="685800" y="6553200"/>
            <a:ext cx="8191500" cy="142875"/>
          </a:xfrm>
          <a:noFill/>
          <a:ln>
            <a:noFill/>
          </a:ln>
        </p:spPr>
        <p:txBody>
          <a:bodyPr lIns="0" tIns="0" rIns="0" bIns="0" anchor="mid"/>
          <a:lstStyle/>
          <a:p>
            <a:pPr algn="l" lvl="0">
              <a:buNone/>
            </a:pPr>
            <a:r>
              <a:rPr lang="es-PE" sz="900" b="0" i="0">
                <a:solidFill>
                  <a:srgbClr val="97999B"/>
                </a:solidFill>
                <a:latin typeface="IBM Plex Mono"/>
              </a:rPr>
              <a:t>CIAR · estado técnico · 26.08.2026 · fuente: informe técnico consolidado</a:t>
            </a:r>
            <a:endParaRPr lang="es-PE" sz="900"/>
          </a:p>
        </p:txBody>
      </p:sp>
      <p:sp>
        <p:nvSpPr>
          <p:cNvPr id="397" name="Text"/>
          <p:cNvSpPr/>
          <p:nvPr/>
        </p:nvSpPr>
        <p:spPr>
          <a:xfrm>
            <a:off x="10763250" y="6553200"/>
            <a:ext cx="742950" cy="142875"/>
          </a:xfrm>
          <a:noFill/>
          <a:ln>
            <a:noFill/>
          </a:ln>
        </p:spPr>
        <p:txBody>
          <a:bodyPr lIns="0" tIns="0" rIns="0" bIns="0" anchor="mid"/>
          <a:lstStyle/>
          <a:p>
            <a:pPr algn="r" lvl="0">
              <a:buNone/>
            </a:pPr>
            <a:r>
              <a:rPr lang="es-PE" sz="1000" b="1" i="0">
                <a:solidFill>
                  <a:srgbClr val="FF5117"/>
                </a:solidFill>
                <a:latin typeface="Roboto"/>
              </a:rPr>
              <a:t>ULIMA</a:t>
            </a:r>
            <a:endParaRPr lang="es-PE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IAR">
  <a:themeElements>
    <a:clrScheme name="CIAR">
      <a:dk1>
        <a:srgbClr val="111111"/>
      </a:dk1>
      <a:lt1>
        <a:srgbClr val="FAFAFA"/>
      </a:lt1>
      <a:dk2>
        <a:srgbClr val="202124"/>
      </a:dk2>
      <a:lt2>
        <a:srgbClr val="F1F1F3"/>
      </a:lt2>
      <a:accent1>
        <a:srgbClr val="FF5117"/>
      </a:accent1>
      <a:accent2>
        <a:srgbClr val="00C5D6"/>
      </a:accent2>
      <a:accent3>
        <a:srgbClr val="00C78B"/>
      </a:accent3>
      <a:accent4>
        <a:srgbClr val="FFA000"/>
      </a:accent4>
      <a:accent5>
        <a:srgbClr val="97999B"/>
      </a:accent5>
      <a:accent6>
        <a:srgbClr val="E4E4E7"/>
      </a:accent6>
      <a:hlink>
        <a:srgbClr val="00C5D6"/>
      </a:hlink>
      <a:folHlink>
        <a:srgbClr val="FF5117"/>
      </a:folHlink>
    </a:clrScheme>
    <a:fontScheme name="CIAR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CIAR">
      <a:fillStyleLst>
        <a:solidFill>
          <a:srgbClr val="FAFAFA"/>
        </a:solidFill>
      </a:fillStyleLst>
      <a:lnStyleLst>
        <a:ln w="9525">
          <a:solidFill>
            <a:srgbClr val="E4E4E7"/>
          </a:solidFill>
        </a:ln>
      </a:lnStyleLst>
      <a:effectStyleLst/>
      <a:bgFillStyleLst/>
    </a:fmtScheme>
  </a:themeElements>
</a:theme>
</file>